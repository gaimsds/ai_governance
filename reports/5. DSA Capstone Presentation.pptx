
<file path=[Content_Types].xml><?xml version="1.0" encoding="utf-8"?>
<Types xmlns="http://schemas.openxmlformats.org/package/2006/content-types">
  <Default ContentType="application/vnd.openxmlformats-officedocument.spreadsheetml.sheet" Extension="xlsx"/>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jafYe9LxMXYd6aRsLao4kXjQEWD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200" b="0" i="0" u="none" strike="noStrike">
                <a:solidFill>
                  <a:srgbClr val="1B2F5E"/>
                </a:solidFill>
                <a:latin typeface="Arial"/>
              </a:defRPr>
            </a:pPr>
            <a:r>
              <a:rPr lang="en-US" sz="1200" b="0" i="0" u="none" strike="noStrike">
                <a:solidFill>
                  <a:srgbClr val="1B2F5E"/>
                </a:solidFill>
                <a:latin typeface="Arial"/>
              </a:rPr>
              <a:t>Stance Framing: Pre vs. Post ChatGPT (%)</a:t>
            </a:r>
          </a:p>
        </c:rich>
      </c:tx>
      <c:overlay val="0"/>
    </c:title>
    <c:autoTitleDeleted val="0"/>
    <c:plotArea>
      <c:layout/>
      <c:barChart>
        <c:barDir val="col"/>
        <c:grouping val="clustered"/>
        <c:varyColors val="0"/>
        <c:ser>
          <c:idx val="0"/>
          <c:order val="0"/>
          <c:tx>
            <c:strRef>
              <c:f>Sheet1!$B$1</c:f>
              <c:strCache>
                <c:ptCount val="1"/>
                <c:pt idx="0">
                  <c:v>Pre-ChatGPT (2015–2021)</c:v>
                </c:pt>
              </c:strCache>
            </c:strRef>
          </c:tx>
          <c:spPr>
            <a:solidFill>
              <a:srgbClr val="1B2F5E"/>
            </a:solidFill>
            <a:effectLst/>
          </c:spPr>
          <c:invertIfNegative val="0"/>
          <c:dLbls>
            <c:numFmt formatCode="#,##0" sourceLinked="0"/>
            <c:spPr>
              <a:noFill/>
              <a:ln>
                <a:noFill/>
              </a:ln>
              <a:effectLst/>
            </c:spPr>
            <c:txPr>
              <a:bodyPr/>
              <a:lstStyle/>
              <a:p>
                <a:pPr>
                  <a:defRPr sz="1000" b="0" i="0" u="none" strike="noStrike">
                    <a:solidFill>
                      <a:srgbClr val="3D456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Risk-Focused</c:v>
                </c:pt>
                <c:pt idx="1">
                  <c:v>Balanced</c:v>
                </c:pt>
                <c:pt idx="2">
                  <c:v>Opportunity-Focused</c:v>
                </c:pt>
              </c:strCache>
            </c:strRef>
          </c:cat>
          <c:val>
            <c:numRef>
              <c:f>Sheet1!$B$2:$B$4</c:f>
              <c:numCache>
                <c:formatCode>General</c:formatCode>
                <c:ptCount val="3"/>
                <c:pt idx="0">
                  <c:v>34.9</c:v>
                </c:pt>
                <c:pt idx="1">
                  <c:v>35.4</c:v>
                </c:pt>
                <c:pt idx="2">
                  <c:v>29.7</c:v>
                </c:pt>
              </c:numCache>
            </c:numRef>
          </c:val>
          <c:extLst>
            <c:ext xmlns:c16="http://schemas.microsoft.com/office/drawing/2014/chart" uri="{C3380CC4-5D6E-409C-BE32-E72D297353CC}">
              <c16:uniqueId val="{00000000-E728-B140-B17C-E69E40DCAB2A}"/>
            </c:ext>
          </c:extLst>
        </c:ser>
        <c:ser>
          <c:idx val="1"/>
          <c:order val="1"/>
          <c:tx>
            <c:strRef>
              <c:f>Sheet1!$C$1</c:f>
              <c:strCache>
                <c:ptCount val="1"/>
                <c:pt idx="0">
                  <c:v>Post-ChatGPT (2022–2025)</c:v>
                </c:pt>
              </c:strCache>
            </c:strRef>
          </c:tx>
          <c:spPr>
            <a:solidFill>
              <a:srgbClr val="C8A951"/>
            </a:solidFill>
            <a:effectLst/>
          </c:spPr>
          <c:invertIfNegative val="0"/>
          <c:dLbls>
            <c:numFmt formatCode="#,##0" sourceLinked="0"/>
            <c:spPr>
              <a:noFill/>
              <a:ln>
                <a:noFill/>
              </a:ln>
              <a:effectLst/>
            </c:spPr>
            <c:txPr>
              <a:bodyPr/>
              <a:lstStyle/>
              <a:p>
                <a:pPr>
                  <a:defRPr sz="1000" b="0" i="0" u="none" strike="noStrike">
                    <a:solidFill>
                      <a:srgbClr val="3D456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Risk-Focused</c:v>
                </c:pt>
                <c:pt idx="1">
                  <c:v>Balanced</c:v>
                </c:pt>
                <c:pt idx="2">
                  <c:v>Opportunity-Focused</c:v>
                </c:pt>
              </c:strCache>
            </c:strRef>
          </c:cat>
          <c:val>
            <c:numRef>
              <c:f>Sheet1!$C$2:$C$4</c:f>
              <c:numCache>
                <c:formatCode>General</c:formatCode>
                <c:ptCount val="3"/>
                <c:pt idx="0">
                  <c:v>29.4</c:v>
                </c:pt>
                <c:pt idx="1">
                  <c:v>30.7</c:v>
                </c:pt>
                <c:pt idx="2">
                  <c:v>40</c:v>
                </c:pt>
              </c:numCache>
            </c:numRef>
          </c:val>
          <c:extLst>
            <c:ext xmlns:c16="http://schemas.microsoft.com/office/drawing/2014/chart" uri="{C3380CC4-5D6E-409C-BE32-E72D297353CC}">
              <c16:uniqueId val="{00000001-E728-B140-B17C-E69E40DCAB2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D4560"/>
                </a:solidFill>
                <a:latin typeface="Arial"/>
              </a:defRPr>
            </a:pPr>
            <a:endParaRPr lang="en-US"/>
          </a:p>
        </c:txPr>
        <c:crossAx val="2094734552"/>
        <c:crosses val="autoZero"/>
        <c:auto val="1"/>
        <c:lblAlgn val="ctr"/>
        <c:lblOffset val="100"/>
        <c:noMultiLvlLbl val="1"/>
      </c:catAx>
      <c:valAx>
        <c:axId val="2094734552"/>
        <c:scaling>
          <c:orientation val="minMax"/>
          <c:max val="50"/>
        </c:scaling>
        <c:delete val="0"/>
        <c:axPos val="l"/>
        <c:majorGridlines>
          <c:spPr>
            <a:ln w="6350" cap="flat">
              <a:solidFill>
                <a:srgbClr val="E0E4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D456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3D4560"/>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 name="Google Shape;23;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4" name="Google Shape;24;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 name="Google Shape;41;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2" name="Google Shape;42;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 name="Google Shape;66;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67" name="Google Shape;67;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 name="Google Shape;96;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97" name="Google Shape;97;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9a496d8e91_2_5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g39a496d8e91_2_5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37" name="Google Shape;137;g39a496d8e91_2_5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9a496d8e91_2_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 name="Google Shape;150;g39a496d8e91_2_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51" name="Google Shape;151;g39a496d8e91_2_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8" name="Google Shape;168;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69" name="Google Shape;169;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0" name="Google Shape;200;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01" name="Google Shape;201;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d974d6ffce_0_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7" name="Google Shape;217;g3d974d6ffce_0_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18" name="Google Shape;218;g3d974d6ffce_0_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2" name="Google Shape;242;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43" name="Google Shape;243;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0" name="Google Shape;260;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61" name="Google Shape;261;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7" name="Google Shape;287;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88" name="Google Shape;288;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9" name="Google Shape;309;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10" name="Google Shape;310;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9" name="Google Shape;329;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30" name="Google Shape;330;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chart" Target="../charts/char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F5E"/>
        </a:solidFill>
      </p:bgPr>
    </p:bg>
    <p:spTree>
      <p:nvGrpSpPr>
        <p:cNvPr id="11" name="Shape 11"/>
        <p:cNvGrpSpPr/>
        <p:nvPr/>
      </p:nvGrpSpPr>
      <p:grpSpPr>
        <a:xfrm>
          <a:off x="0" y="0"/>
          <a:ext cx="0" cy="0"/>
          <a:chOff x="0" y="0"/>
          <a:chExt cx="0" cy="0"/>
        </a:xfrm>
      </p:grpSpPr>
      <p:sp>
        <p:nvSpPr>
          <p:cNvPr id="12" name="Google Shape;12;p1"/>
          <p:cNvSpPr/>
          <p:nvPr/>
        </p:nvSpPr>
        <p:spPr>
          <a:xfrm>
            <a:off x="0" y="0"/>
            <a:ext cx="201168" cy="5143500"/>
          </a:xfrm>
          <a:prstGeom prst="rect">
            <a:avLst/>
          </a:prstGeom>
          <a:solidFill>
            <a:srgbClr val="C8A9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 name="Google Shape;13;p1"/>
          <p:cNvSpPr/>
          <p:nvPr/>
        </p:nvSpPr>
        <p:spPr>
          <a:xfrm>
            <a:off x="6858000" y="0"/>
            <a:ext cx="2286000" cy="5143500"/>
          </a:xfrm>
          <a:prstGeom prst="rect">
            <a:avLst/>
          </a:prstGeom>
          <a:solidFill>
            <a:srgbClr val="24377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 name="Google Shape;14;p1"/>
          <p:cNvSpPr/>
          <p:nvPr/>
        </p:nvSpPr>
        <p:spPr>
          <a:xfrm>
            <a:off x="457200" y="32004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A951"/>
              </a:buClr>
              <a:buSzPts val="1000"/>
              <a:buFont typeface="Calibri"/>
              <a:buNone/>
            </a:pPr>
            <a:r>
              <a:rPr b="1" lang="en-US" sz="1000">
                <a:solidFill>
                  <a:srgbClr val="C8A951"/>
                </a:solidFill>
                <a:latin typeface="Calibri"/>
                <a:ea typeface="Calibri"/>
                <a:cs typeface="Calibri"/>
                <a:sym typeface="Calibri"/>
              </a:rPr>
              <a:t>THE GEORGE WASHINGTON UNIVERSITY</a:t>
            </a:r>
            <a:endParaRPr sz="1000">
              <a:solidFill>
                <a:schemeClr val="dk1"/>
              </a:solidFill>
              <a:latin typeface="Calibri"/>
              <a:ea typeface="Calibri"/>
              <a:cs typeface="Calibri"/>
              <a:sym typeface="Calibri"/>
            </a:endParaRPr>
          </a:p>
        </p:txBody>
      </p:sp>
      <p:sp>
        <p:nvSpPr>
          <p:cNvPr id="15" name="Google Shape;15;p1"/>
          <p:cNvSpPr/>
          <p:nvPr/>
        </p:nvSpPr>
        <p:spPr>
          <a:xfrm>
            <a:off x="457200" y="594360"/>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0D5E0"/>
              </a:buClr>
              <a:buSzPts val="1000"/>
              <a:buFont typeface="Calibri"/>
              <a:buNone/>
            </a:pPr>
            <a:r>
              <a:rPr lang="en-US" sz="1000">
                <a:solidFill>
                  <a:srgbClr val="D0D5E0"/>
                </a:solidFill>
                <a:latin typeface="Calibri"/>
                <a:ea typeface="Calibri"/>
                <a:cs typeface="Calibri"/>
                <a:sym typeface="Calibri"/>
              </a:rPr>
              <a:t>Columbian College of Arts and Sciences  |  M.S. Data Science  |  Spring 2026</a:t>
            </a:r>
            <a:endParaRPr sz="1000">
              <a:solidFill>
                <a:schemeClr val="dk1"/>
              </a:solidFill>
              <a:latin typeface="Calibri"/>
              <a:ea typeface="Calibri"/>
              <a:cs typeface="Calibri"/>
              <a:sym typeface="Calibri"/>
            </a:endParaRPr>
          </a:p>
        </p:txBody>
      </p:sp>
      <p:sp>
        <p:nvSpPr>
          <p:cNvPr id="16" name="Google Shape;16;p1"/>
          <p:cNvSpPr/>
          <p:nvPr/>
        </p:nvSpPr>
        <p:spPr>
          <a:xfrm>
            <a:off x="457200" y="1097280"/>
            <a:ext cx="80467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800"/>
              <a:buFont typeface="Cambria"/>
              <a:buNone/>
            </a:pPr>
            <a:r>
              <a:rPr b="1" lang="en-US" sz="3800">
                <a:solidFill>
                  <a:srgbClr val="FFFFFF"/>
                </a:solidFill>
                <a:latin typeface="Cambria"/>
                <a:ea typeface="Cambria"/>
                <a:cs typeface="Cambria"/>
                <a:sym typeface="Cambria"/>
              </a:rPr>
              <a:t>Global AI Governance Narratives</a:t>
            </a:r>
            <a:endParaRPr sz="3800">
              <a:solidFill>
                <a:schemeClr val="dk1"/>
              </a:solidFill>
              <a:latin typeface="Calibri"/>
              <a:ea typeface="Calibri"/>
              <a:cs typeface="Calibri"/>
              <a:sym typeface="Calibri"/>
            </a:endParaRPr>
          </a:p>
        </p:txBody>
      </p:sp>
      <p:sp>
        <p:nvSpPr>
          <p:cNvPr id="17" name="Google Shape;17;p1"/>
          <p:cNvSpPr/>
          <p:nvPr/>
        </p:nvSpPr>
        <p:spPr>
          <a:xfrm>
            <a:off x="457200" y="1920240"/>
            <a:ext cx="8046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A951"/>
              </a:buClr>
              <a:buSzPts val="2200"/>
              <a:buFont typeface="Cambria"/>
              <a:buNone/>
            </a:pPr>
            <a:r>
              <a:rPr i="1" lang="en-US" sz="2200">
                <a:solidFill>
                  <a:srgbClr val="C8A951"/>
                </a:solidFill>
                <a:latin typeface="Cambria"/>
                <a:ea typeface="Cambria"/>
                <a:cs typeface="Cambria"/>
                <a:sym typeface="Cambria"/>
              </a:rPr>
              <a:t>A Spatial NLP Analysis of Academic and Policy Discourse</a:t>
            </a:r>
            <a:endParaRPr sz="2200">
              <a:solidFill>
                <a:schemeClr val="dk1"/>
              </a:solidFill>
              <a:latin typeface="Calibri"/>
              <a:ea typeface="Calibri"/>
              <a:cs typeface="Calibri"/>
              <a:sym typeface="Calibri"/>
            </a:endParaRPr>
          </a:p>
        </p:txBody>
      </p:sp>
      <p:sp>
        <p:nvSpPr>
          <p:cNvPr id="18" name="Google Shape;18;p1"/>
          <p:cNvSpPr/>
          <p:nvPr/>
        </p:nvSpPr>
        <p:spPr>
          <a:xfrm>
            <a:off x="457200" y="2560320"/>
            <a:ext cx="2011680" cy="45720"/>
          </a:xfrm>
          <a:prstGeom prst="rect">
            <a:avLst/>
          </a:prstGeom>
          <a:solidFill>
            <a:srgbClr val="C8A9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 name="Google Shape;19;p1"/>
          <p:cNvSpPr/>
          <p:nvPr/>
        </p:nvSpPr>
        <p:spPr>
          <a:xfrm>
            <a:off x="457200" y="278892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Tambudzai G. Charumbira  |  Joshua Gray</a:t>
            </a:r>
            <a:endParaRPr sz="1600">
              <a:solidFill>
                <a:schemeClr val="dk1"/>
              </a:solidFill>
              <a:latin typeface="Calibri"/>
              <a:ea typeface="Calibri"/>
              <a:cs typeface="Calibri"/>
              <a:sym typeface="Calibri"/>
            </a:endParaRPr>
          </a:p>
        </p:txBody>
      </p:sp>
      <p:sp>
        <p:nvSpPr>
          <p:cNvPr id="20" name="Google Shape;20;p1"/>
          <p:cNvSpPr/>
          <p:nvPr/>
        </p:nvSpPr>
        <p:spPr>
          <a:xfrm>
            <a:off x="457200" y="3246120"/>
            <a:ext cx="685800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0D5E0"/>
              </a:buClr>
              <a:buSzPts val="1300"/>
              <a:buFont typeface="Calibri"/>
              <a:buNone/>
            </a:pPr>
            <a:r>
              <a:rPr lang="en-US" sz="1300">
                <a:solidFill>
                  <a:srgbClr val="D0D5E0"/>
                </a:solidFill>
                <a:latin typeface="Calibri"/>
                <a:ea typeface="Calibri"/>
                <a:cs typeface="Calibri"/>
                <a:sym typeface="Calibri"/>
              </a:rPr>
              <a:t>Mapping how 41,067 peer-reviewed publications and 35 national AI strategy documents frame governance priorities across regions, institutions, and time — using BERTopic and zero-shot stance classification.</a:t>
            </a:r>
            <a:endParaRPr sz="13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25" name="Shape 25"/>
        <p:cNvGrpSpPr/>
        <p:nvPr/>
      </p:nvGrpSpPr>
      <p:grpSpPr>
        <a:xfrm>
          <a:off x="0" y="0"/>
          <a:ext cx="0" cy="0"/>
          <a:chOff x="0" y="0"/>
          <a:chExt cx="0" cy="0"/>
        </a:xfrm>
      </p:grpSpPr>
      <p:sp>
        <p:nvSpPr>
          <p:cNvPr id="26" name="Google Shape;26;p2"/>
          <p:cNvSpPr/>
          <p:nvPr/>
        </p:nvSpPr>
        <p:spPr>
          <a:xfrm>
            <a:off x="0" y="0"/>
            <a:ext cx="9144000" cy="685800"/>
          </a:xfrm>
          <a:prstGeom prst="rect">
            <a:avLst/>
          </a:prstGeom>
          <a:solidFill>
            <a:srgbClr val="1B2F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 name="Google Shape;27;p2"/>
          <p:cNvSpPr/>
          <p:nvPr/>
        </p:nvSpPr>
        <p:spPr>
          <a:xfrm>
            <a:off x="0" y="685800"/>
            <a:ext cx="9144000" cy="54864"/>
          </a:xfrm>
          <a:prstGeom prst="rect">
            <a:avLst/>
          </a:prstGeom>
          <a:solidFill>
            <a:srgbClr val="C8A9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 name="Google Shape;28;p2"/>
          <p:cNvSpPr/>
          <p:nvPr/>
        </p:nvSpPr>
        <p:spPr>
          <a:xfrm>
            <a:off x="365760" y="0"/>
            <a:ext cx="841248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mbria"/>
              <a:buNone/>
            </a:pPr>
            <a:r>
              <a:rPr b="1" lang="en-US" sz="2600">
                <a:solidFill>
                  <a:srgbClr val="FFFFFF"/>
                </a:solidFill>
                <a:latin typeface="Cambria"/>
                <a:ea typeface="Cambria"/>
                <a:cs typeface="Cambria"/>
                <a:sym typeface="Cambria"/>
              </a:rPr>
              <a:t>Background &amp; Motivation</a:t>
            </a:r>
            <a:endParaRPr sz="2600">
              <a:solidFill>
                <a:schemeClr val="dk1"/>
              </a:solidFill>
              <a:latin typeface="Calibri"/>
              <a:ea typeface="Calibri"/>
              <a:cs typeface="Calibri"/>
              <a:sym typeface="Calibri"/>
            </a:endParaRPr>
          </a:p>
        </p:txBody>
      </p:sp>
      <p:sp>
        <p:nvSpPr>
          <p:cNvPr id="29" name="Google Shape;29;p2"/>
          <p:cNvSpPr/>
          <p:nvPr/>
        </p:nvSpPr>
        <p:spPr>
          <a:xfrm>
            <a:off x="0" y="5001768"/>
            <a:ext cx="9144000" cy="141732"/>
          </a:xfrm>
          <a:prstGeom prst="rect">
            <a:avLst/>
          </a:prstGeom>
          <a:solidFill>
            <a:srgbClr val="1B2F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 name="Google Shape;30;p2"/>
          <p:cNvSpPr/>
          <p:nvPr/>
        </p:nvSpPr>
        <p:spPr>
          <a:xfrm>
            <a:off x="274320" y="5001768"/>
            <a:ext cx="8595360" cy="1417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A951"/>
              </a:buClr>
              <a:buSzPts val="900"/>
              <a:buFont typeface="Calibri"/>
              <a:buNone/>
            </a:pPr>
            <a:r>
              <a:rPr lang="en-US" sz="900">
                <a:solidFill>
                  <a:srgbClr val="C8A951"/>
                </a:solidFill>
                <a:latin typeface="Calibri"/>
                <a:ea typeface="Calibri"/>
                <a:cs typeface="Calibri"/>
                <a:sym typeface="Calibri"/>
              </a:rPr>
              <a:t>Global AI Governance Narratives  |  Charumbira &amp; Gray  |  GWU CCAS  |  Spring 2026</a:t>
            </a:r>
            <a:endParaRPr sz="900">
              <a:solidFill>
                <a:schemeClr val="dk1"/>
              </a:solidFill>
              <a:latin typeface="Calibri"/>
              <a:ea typeface="Calibri"/>
              <a:cs typeface="Calibri"/>
              <a:sym typeface="Calibri"/>
            </a:endParaRPr>
          </a:p>
        </p:txBody>
      </p:sp>
      <p:sp>
        <p:nvSpPr>
          <p:cNvPr id="31" name="Google Shape;31;p2"/>
          <p:cNvSpPr/>
          <p:nvPr/>
        </p:nvSpPr>
        <p:spPr>
          <a:xfrm>
            <a:off x="274320" y="896112"/>
            <a:ext cx="4206240" cy="3730752"/>
          </a:xfrm>
          <a:prstGeom prst="rect">
            <a:avLst/>
          </a:prstGeom>
          <a:solidFill>
            <a:srgbClr val="FFFFFF"/>
          </a:solidFill>
          <a:ln cap="flat" cmpd="sng" w="9525">
            <a:solidFill>
              <a:srgbClr val="D0D5E0"/>
            </a:solidFill>
            <a:prstDash val="solid"/>
            <a:round/>
            <a:headEnd len="sm" w="sm" type="none"/>
            <a:tailEnd len="sm" w="sm" type="none"/>
          </a:ln>
          <a:effectLst>
            <a:outerShdw blurRad="762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 name="Google Shape;32;p2"/>
          <p:cNvSpPr/>
          <p:nvPr/>
        </p:nvSpPr>
        <p:spPr>
          <a:xfrm>
            <a:off x="502920" y="987552"/>
            <a:ext cx="3749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F5E"/>
              </a:buClr>
              <a:buSzPts val="1600"/>
              <a:buFont typeface="Cambria"/>
              <a:buNone/>
            </a:pPr>
            <a:r>
              <a:rPr b="1" lang="en-US" sz="1600">
                <a:solidFill>
                  <a:srgbClr val="1B2F5E"/>
                </a:solidFill>
                <a:latin typeface="Cambria"/>
                <a:ea typeface="Cambria"/>
                <a:cs typeface="Cambria"/>
                <a:sym typeface="Cambria"/>
              </a:rPr>
              <a:t>The Problem</a:t>
            </a:r>
            <a:endParaRPr sz="1600">
              <a:solidFill>
                <a:schemeClr val="dk1"/>
              </a:solidFill>
              <a:latin typeface="Calibri"/>
              <a:ea typeface="Calibri"/>
              <a:cs typeface="Calibri"/>
              <a:sym typeface="Calibri"/>
            </a:endParaRPr>
          </a:p>
        </p:txBody>
      </p:sp>
      <p:sp>
        <p:nvSpPr>
          <p:cNvPr id="33" name="Google Shape;33;p2"/>
          <p:cNvSpPr/>
          <p:nvPr/>
        </p:nvSpPr>
        <p:spPr>
          <a:xfrm>
            <a:off x="502920" y="1307592"/>
            <a:ext cx="1097280" cy="36576"/>
          </a:xfrm>
          <a:prstGeom prst="rect">
            <a:avLst/>
          </a:prstGeom>
          <a:solidFill>
            <a:srgbClr val="C8A9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 name="Google Shape;34;p2"/>
          <p:cNvSpPr/>
          <p:nvPr/>
        </p:nvSpPr>
        <p:spPr>
          <a:xfrm>
            <a:off x="502920" y="1417320"/>
            <a:ext cx="3749040" cy="3017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D4560"/>
              </a:buClr>
              <a:buSzPts val="1300"/>
              <a:buFont typeface="Calibri"/>
              <a:buNone/>
            </a:pPr>
            <a:r>
              <a:rPr lang="en-US" sz="1300">
                <a:solidFill>
                  <a:srgbClr val="3D4560"/>
                </a:solidFill>
                <a:latin typeface="Calibri"/>
                <a:ea typeface="Calibri"/>
                <a:cs typeface="Calibri"/>
                <a:sym typeface="Calibri"/>
              </a:rPr>
              <a:t>AI governance is shaped by vast academic research and national policy frameworks — yet no systematic, spatially grounded map exists of how governance concerns are framed across regions.</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3D4560"/>
              </a:buClr>
              <a:buSzPts val="1300"/>
              <a:buFont typeface="Calibri"/>
              <a:buNone/>
            </a:pPr>
            <a:r>
              <a:rPr lang="en-US" sz="1300">
                <a:solidFill>
                  <a:srgbClr val="3D4560"/>
                </a:solidFill>
                <a:latin typeface="Calibri"/>
                <a:ea typeface="Calibri"/>
                <a:cs typeface="Calibri"/>
                <a:sym typeface="Calibri"/>
              </a:rPr>
              <a:t> </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3D4560"/>
              </a:buClr>
              <a:buSzPts val="1300"/>
              <a:buFont typeface="Calibri"/>
              <a:buNone/>
            </a:pPr>
            <a:r>
              <a:rPr lang="en-US" sz="1300">
                <a:solidFill>
                  <a:srgbClr val="3D4560"/>
                </a:solidFill>
                <a:latin typeface="Calibri"/>
                <a:ea typeface="Calibri"/>
                <a:cs typeface="Calibri"/>
                <a:sym typeface="Calibri"/>
              </a:rPr>
              <a:t>Existing work describes where research originates, but not:</a:t>
            </a:r>
            <a:endParaRPr sz="1300">
              <a:solidFill>
                <a:schemeClr val="dk1"/>
              </a:solidFill>
              <a:latin typeface="Calibri"/>
              <a:ea typeface="Calibri"/>
              <a:cs typeface="Calibri"/>
              <a:sym typeface="Calibri"/>
            </a:endParaRPr>
          </a:p>
          <a:p>
            <a:pPr indent="-342900" lvl="0" marL="342900" marR="0" rtl="0" algn="l">
              <a:spcBef>
                <a:spcPts val="0"/>
              </a:spcBef>
              <a:spcAft>
                <a:spcPts val="0"/>
              </a:spcAft>
              <a:buClr>
                <a:srgbClr val="3D4560"/>
              </a:buClr>
              <a:buSzPts val="1300"/>
              <a:buFont typeface="Calibri"/>
              <a:buChar char="•"/>
            </a:pPr>
            <a:r>
              <a:rPr lang="en-US" sz="1300">
                <a:solidFill>
                  <a:srgbClr val="3D4560"/>
                </a:solidFill>
                <a:latin typeface="Calibri"/>
                <a:ea typeface="Calibri"/>
                <a:cs typeface="Calibri"/>
                <a:sym typeface="Calibri"/>
              </a:rPr>
              <a:t>How AI governance concerns are substantively framed</a:t>
            </a:r>
            <a:endParaRPr sz="1300">
              <a:solidFill>
                <a:schemeClr val="dk1"/>
              </a:solidFill>
              <a:latin typeface="Calibri"/>
              <a:ea typeface="Calibri"/>
              <a:cs typeface="Calibri"/>
              <a:sym typeface="Calibri"/>
            </a:endParaRPr>
          </a:p>
          <a:p>
            <a:pPr indent="-342900" lvl="0" marL="342900" marR="0" rtl="0" algn="l">
              <a:spcBef>
                <a:spcPts val="0"/>
              </a:spcBef>
              <a:spcAft>
                <a:spcPts val="0"/>
              </a:spcAft>
              <a:buClr>
                <a:srgbClr val="3D4560"/>
              </a:buClr>
              <a:buSzPts val="1300"/>
              <a:buFont typeface="Calibri"/>
              <a:buChar char="•"/>
            </a:pPr>
            <a:r>
              <a:rPr lang="en-US" sz="1300">
                <a:solidFill>
                  <a:srgbClr val="3D4560"/>
                </a:solidFill>
                <a:latin typeface="Calibri"/>
                <a:ea typeface="Calibri"/>
                <a:cs typeface="Calibri"/>
                <a:sym typeface="Calibri"/>
              </a:rPr>
              <a:t>Which risks are foregrounded by different regions</a:t>
            </a:r>
            <a:endParaRPr sz="1300">
              <a:solidFill>
                <a:schemeClr val="dk1"/>
              </a:solidFill>
              <a:latin typeface="Calibri"/>
              <a:ea typeface="Calibri"/>
              <a:cs typeface="Calibri"/>
              <a:sym typeface="Calibri"/>
            </a:endParaRPr>
          </a:p>
          <a:p>
            <a:pPr indent="-342900" lvl="0" marL="342900" marR="0" rtl="0" algn="l">
              <a:spcBef>
                <a:spcPts val="0"/>
              </a:spcBef>
              <a:spcAft>
                <a:spcPts val="0"/>
              </a:spcAft>
              <a:buClr>
                <a:srgbClr val="3D4560"/>
              </a:buClr>
              <a:buSzPts val="1300"/>
              <a:buFont typeface="Calibri"/>
              <a:buChar char="•"/>
            </a:pPr>
            <a:r>
              <a:rPr lang="en-US" sz="1300">
                <a:solidFill>
                  <a:srgbClr val="3D4560"/>
                </a:solidFill>
                <a:latin typeface="Calibri"/>
                <a:ea typeface="Calibri"/>
                <a:cs typeface="Calibri"/>
                <a:sym typeface="Calibri"/>
              </a:rPr>
              <a:t>Whether AI is positioned as threat or opportunity</a:t>
            </a:r>
            <a:endParaRPr sz="1300">
              <a:solidFill>
                <a:schemeClr val="dk1"/>
              </a:solidFill>
              <a:latin typeface="Calibri"/>
              <a:ea typeface="Calibri"/>
              <a:cs typeface="Calibri"/>
              <a:sym typeface="Calibri"/>
            </a:endParaRPr>
          </a:p>
          <a:p>
            <a:pPr indent="-342900" lvl="0" marL="342900" marR="0" rtl="0" algn="l">
              <a:spcBef>
                <a:spcPts val="0"/>
              </a:spcBef>
              <a:spcAft>
                <a:spcPts val="0"/>
              </a:spcAft>
              <a:buClr>
                <a:srgbClr val="3D4560"/>
              </a:buClr>
              <a:buSzPts val="1300"/>
              <a:buFont typeface="Calibri"/>
              <a:buChar char="•"/>
            </a:pPr>
            <a:r>
              <a:rPr lang="en-US" sz="1300">
                <a:solidFill>
                  <a:srgbClr val="3D4560"/>
                </a:solidFill>
                <a:latin typeface="Calibri"/>
                <a:ea typeface="Calibri"/>
                <a:cs typeface="Calibri"/>
                <a:sym typeface="Calibri"/>
              </a:rPr>
              <a:t>How academic and policy discourse align</a:t>
            </a:r>
            <a:endParaRPr sz="1300">
              <a:solidFill>
                <a:schemeClr val="dk1"/>
              </a:solidFill>
              <a:latin typeface="Calibri"/>
              <a:ea typeface="Calibri"/>
              <a:cs typeface="Calibri"/>
              <a:sym typeface="Calibri"/>
            </a:endParaRPr>
          </a:p>
        </p:txBody>
      </p:sp>
      <p:sp>
        <p:nvSpPr>
          <p:cNvPr id="35" name="Google Shape;35;p2"/>
          <p:cNvSpPr/>
          <p:nvPr/>
        </p:nvSpPr>
        <p:spPr>
          <a:xfrm>
            <a:off x="4663440" y="896112"/>
            <a:ext cx="4206240" cy="3730752"/>
          </a:xfrm>
          <a:prstGeom prst="rect">
            <a:avLst/>
          </a:prstGeom>
          <a:solidFill>
            <a:srgbClr val="FFFFFF"/>
          </a:solidFill>
          <a:ln cap="flat" cmpd="sng" w="9525">
            <a:solidFill>
              <a:srgbClr val="D0D5E0"/>
            </a:solidFill>
            <a:prstDash val="solid"/>
            <a:round/>
            <a:headEnd len="sm" w="sm" type="none"/>
            <a:tailEnd len="sm" w="sm" type="none"/>
          </a:ln>
          <a:effectLst>
            <a:outerShdw blurRad="762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 name="Google Shape;36;p2"/>
          <p:cNvSpPr/>
          <p:nvPr/>
        </p:nvSpPr>
        <p:spPr>
          <a:xfrm>
            <a:off x="4892040" y="987552"/>
            <a:ext cx="3749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F5E"/>
              </a:buClr>
              <a:buSzPts val="1600"/>
              <a:buFont typeface="Cambria"/>
              <a:buNone/>
            </a:pPr>
            <a:r>
              <a:rPr b="1" lang="en-US" sz="1600">
                <a:solidFill>
                  <a:srgbClr val="1B2F5E"/>
                </a:solidFill>
                <a:latin typeface="Cambria"/>
                <a:ea typeface="Cambria"/>
                <a:cs typeface="Cambria"/>
                <a:sym typeface="Cambria"/>
              </a:rPr>
              <a:t>Why Now?</a:t>
            </a:r>
            <a:endParaRPr sz="1600">
              <a:solidFill>
                <a:schemeClr val="dk1"/>
              </a:solidFill>
              <a:latin typeface="Calibri"/>
              <a:ea typeface="Calibri"/>
              <a:cs typeface="Calibri"/>
              <a:sym typeface="Calibri"/>
            </a:endParaRPr>
          </a:p>
        </p:txBody>
      </p:sp>
      <p:sp>
        <p:nvSpPr>
          <p:cNvPr id="37" name="Google Shape;37;p2"/>
          <p:cNvSpPr/>
          <p:nvPr/>
        </p:nvSpPr>
        <p:spPr>
          <a:xfrm>
            <a:off x="4892040" y="1307592"/>
            <a:ext cx="1097280" cy="36576"/>
          </a:xfrm>
          <a:prstGeom prst="rect">
            <a:avLst/>
          </a:prstGeom>
          <a:solidFill>
            <a:srgbClr val="C8A9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 name="Google Shape;38;p2"/>
          <p:cNvSpPr/>
          <p:nvPr/>
        </p:nvSpPr>
        <p:spPr>
          <a:xfrm>
            <a:off x="4892040" y="1417320"/>
            <a:ext cx="3749040" cy="3017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D4560"/>
              </a:buClr>
              <a:buSzPts val="1300"/>
              <a:buFont typeface="Calibri"/>
              <a:buNone/>
            </a:pPr>
            <a:r>
              <a:rPr lang="en-US" sz="1300">
                <a:solidFill>
                  <a:srgbClr val="3D4560"/>
                </a:solidFill>
                <a:latin typeface="Calibri"/>
                <a:ea typeface="Calibri"/>
                <a:cs typeface="Calibri"/>
                <a:sym typeface="Calibri"/>
              </a:rPr>
              <a:t>ChatGPT's release (Nov 2022) compressed a decade of gradual regulatory development into just a few years — forcing governments, researchers, and institutions to respond rapidly.</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3D4560"/>
              </a:buClr>
              <a:buSzPts val="1300"/>
              <a:buFont typeface="Calibri"/>
              <a:buNone/>
            </a:pPr>
            <a:r>
              <a:rPr lang="en-US" sz="1300">
                <a:solidFill>
                  <a:srgbClr val="3D4560"/>
                </a:solidFill>
                <a:latin typeface="Calibri"/>
                <a:ea typeface="Calibri"/>
                <a:cs typeface="Calibri"/>
                <a:sym typeface="Calibri"/>
              </a:rPr>
              <a:t> </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3D4560"/>
              </a:buClr>
              <a:buSzPts val="1300"/>
              <a:buFont typeface="Calibri"/>
              <a:buNone/>
            </a:pPr>
            <a:r>
              <a:rPr lang="en-US" sz="1300">
                <a:solidFill>
                  <a:srgbClr val="3D4560"/>
                </a:solidFill>
                <a:latin typeface="Calibri"/>
                <a:ea typeface="Calibri"/>
                <a:cs typeface="Calibri"/>
                <a:sym typeface="Calibri"/>
              </a:rPr>
              <a:t>The EU AI Act (2024) introduced the world's first comprehensive AI regulatory framework, but its global reach and actual influence remain poorly understood.</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3D4560"/>
              </a:buClr>
              <a:buSzPts val="1300"/>
              <a:buFont typeface="Calibri"/>
              <a:buNone/>
            </a:pPr>
            <a:r>
              <a:rPr lang="en-US" sz="1300">
                <a:solidFill>
                  <a:srgbClr val="3D4560"/>
                </a:solidFill>
                <a:latin typeface="Calibri"/>
                <a:ea typeface="Calibri"/>
                <a:cs typeface="Calibri"/>
                <a:sym typeface="Calibri"/>
              </a:rPr>
              <a:t> </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3D4560"/>
              </a:buClr>
              <a:buSzPts val="1300"/>
              <a:buFont typeface="Calibri"/>
              <a:buNone/>
            </a:pPr>
            <a:r>
              <a:rPr lang="en-US" sz="1300">
                <a:solidFill>
                  <a:srgbClr val="3D4560"/>
                </a:solidFill>
                <a:latin typeface="Calibri"/>
                <a:ea typeface="Calibri"/>
                <a:cs typeface="Calibri"/>
                <a:sym typeface="Calibri"/>
              </a:rPr>
              <a:t>Regional power asymmetries in AI research raise questions about whose governance concerns shape the global conversation.</a:t>
            </a:r>
            <a:endParaRPr sz="13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43" name="Shape 43"/>
        <p:cNvGrpSpPr/>
        <p:nvPr/>
      </p:nvGrpSpPr>
      <p:grpSpPr>
        <a:xfrm>
          <a:off x="0" y="0"/>
          <a:ext cx="0" cy="0"/>
          <a:chOff x="0" y="0"/>
          <a:chExt cx="0" cy="0"/>
        </a:xfrm>
      </p:grpSpPr>
      <p:sp>
        <p:nvSpPr>
          <p:cNvPr id="44" name="Google Shape;44;p3"/>
          <p:cNvSpPr/>
          <p:nvPr/>
        </p:nvSpPr>
        <p:spPr>
          <a:xfrm>
            <a:off x="0" y="0"/>
            <a:ext cx="9144000" cy="685800"/>
          </a:xfrm>
          <a:prstGeom prst="rect">
            <a:avLst/>
          </a:prstGeom>
          <a:solidFill>
            <a:srgbClr val="1B2F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 name="Google Shape;45;p3"/>
          <p:cNvSpPr/>
          <p:nvPr/>
        </p:nvSpPr>
        <p:spPr>
          <a:xfrm>
            <a:off x="0" y="685800"/>
            <a:ext cx="9144000" cy="54864"/>
          </a:xfrm>
          <a:prstGeom prst="rect">
            <a:avLst/>
          </a:prstGeom>
          <a:solidFill>
            <a:srgbClr val="C8A9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 name="Google Shape;46;p3"/>
          <p:cNvSpPr/>
          <p:nvPr/>
        </p:nvSpPr>
        <p:spPr>
          <a:xfrm>
            <a:off x="365760" y="0"/>
            <a:ext cx="841248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mbria"/>
              <a:buNone/>
            </a:pPr>
            <a:r>
              <a:rPr b="1" lang="en-US" sz="2600">
                <a:solidFill>
                  <a:srgbClr val="FFFFFF"/>
                </a:solidFill>
                <a:latin typeface="Cambria"/>
                <a:ea typeface="Cambria"/>
                <a:cs typeface="Cambria"/>
                <a:sym typeface="Cambria"/>
              </a:rPr>
              <a:t>Research Questions &amp; Objectives</a:t>
            </a:r>
            <a:endParaRPr sz="2600">
              <a:solidFill>
                <a:schemeClr val="dk1"/>
              </a:solidFill>
              <a:latin typeface="Calibri"/>
              <a:ea typeface="Calibri"/>
              <a:cs typeface="Calibri"/>
              <a:sym typeface="Calibri"/>
            </a:endParaRPr>
          </a:p>
        </p:txBody>
      </p:sp>
      <p:sp>
        <p:nvSpPr>
          <p:cNvPr id="47" name="Google Shape;47;p3"/>
          <p:cNvSpPr/>
          <p:nvPr/>
        </p:nvSpPr>
        <p:spPr>
          <a:xfrm>
            <a:off x="0" y="5001768"/>
            <a:ext cx="9144000" cy="141732"/>
          </a:xfrm>
          <a:prstGeom prst="rect">
            <a:avLst/>
          </a:prstGeom>
          <a:solidFill>
            <a:srgbClr val="1B2F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 name="Google Shape;48;p3"/>
          <p:cNvSpPr/>
          <p:nvPr/>
        </p:nvSpPr>
        <p:spPr>
          <a:xfrm>
            <a:off x="274320" y="5001768"/>
            <a:ext cx="8595360" cy="1417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A951"/>
              </a:buClr>
              <a:buSzPts val="900"/>
              <a:buFont typeface="Calibri"/>
              <a:buNone/>
            </a:pPr>
            <a:r>
              <a:rPr lang="en-US" sz="900">
                <a:solidFill>
                  <a:srgbClr val="C8A951"/>
                </a:solidFill>
                <a:latin typeface="Calibri"/>
                <a:ea typeface="Calibri"/>
                <a:cs typeface="Calibri"/>
                <a:sym typeface="Calibri"/>
              </a:rPr>
              <a:t>Global AI Governance Narratives  |  Charumbira &amp; Gray  |  GWU CCAS  |  Spring 2026</a:t>
            </a:r>
            <a:endParaRPr sz="900">
              <a:solidFill>
                <a:schemeClr val="dk1"/>
              </a:solidFill>
              <a:latin typeface="Calibri"/>
              <a:ea typeface="Calibri"/>
              <a:cs typeface="Calibri"/>
              <a:sym typeface="Calibri"/>
            </a:endParaRPr>
          </a:p>
        </p:txBody>
      </p:sp>
      <p:sp>
        <p:nvSpPr>
          <p:cNvPr id="49" name="Google Shape;49;p3"/>
          <p:cNvSpPr/>
          <p:nvPr/>
        </p:nvSpPr>
        <p:spPr>
          <a:xfrm>
            <a:off x="274320" y="960120"/>
            <a:ext cx="8595360" cy="1097280"/>
          </a:xfrm>
          <a:prstGeom prst="rect">
            <a:avLst/>
          </a:prstGeom>
          <a:solidFill>
            <a:srgbClr val="FFFFFF"/>
          </a:solidFill>
          <a:ln cap="flat" cmpd="sng" w="9525">
            <a:solidFill>
              <a:srgbClr val="D0D5E0"/>
            </a:solidFill>
            <a:prstDash val="solid"/>
            <a:round/>
            <a:headEnd len="sm" w="sm" type="none"/>
            <a:tailEnd len="sm" w="sm" type="none"/>
          </a:ln>
          <a:effectLst>
            <a:outerShdw blurRad="762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 name="Google Shape;50;p3"/>
          <p:cNvSpPr/>
          <p:nvPr/>
        </p:nvSpPr>
        <p:spPr>
          <a:xfrm>
            <a:off x="274320" y="960120"/>
            <a:ext cx="914400" cy="1097280"/>
          </a:xfrm>
          <a:prstGeom prst="rect">
            <a:avLst/>
          </a:prstGeom>
          <a:solidFill>
            <a:srgbClr val="1B2F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 name="Google Shape;51;p3"/>
          <p:cNvSpPr/>
          <p:nvPr/>
        </p:nvSpPr>
        <p:spPr>
          <a:xfrm>
            <a:off x="274320" y="960120"/>
            <a:ext cx="914400" cy="59436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C8A951"/>
              </a:buClr>
              <a:buSzPts val="2200"/>
              <a:buFont typeface="Cambria"/>
              <a:buNone/>
            </a:pPr>
            <a:r>
              <a:rPr b="1" lang="en-US" sz="2200">
                <a:solidFill>
                  <a:srgbClr val="C8A951"/>
                </a:solidFill>
                <a:latin typeface="Cambria"/>
                <a:ea typeface="Cambria"/>
                <a:cs typeface="Cambria"/>
                <a:sym typeface="Cambria"/>
              </a:rPr>
              <a:t>RO1</a:t>
            </a:r>
            <a:endParaRPr sz="2200">
              <a:solidFill>
                <a:schemeClr val="dk1"/>
              </a:solidFill>
              <a:latin typeface="Calibri"/>
              <a:ea typeface="Calibri"/>
              <a:cs typeface="Calibri"/>
              <a:sym typeface="Calibri"/>
            </a:endParaRPr>
          </a:p>
        </p:txBody>
      </p:sp>
      <p:sp>
        <p:nvSpPr>
          <p:cNvPr id="52" name="Google Shape;52;p3"/>
          <p:cNvSpPr/>
          <p:nvPr/>
        </p:nvSpPr>
        <p:spPr>
          <a:xfrm>
            <a:off x="274320" y="1554480"/>
            <a:ext cx="914400" cy="5029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D0D5E0"/>
              </a:buClr>
              <a:buSzPts val="900"/>
              <a:buFont typeface="Calibri"/>
              <a:buNone/>
            </a:pPr>
            <a:r>
              <a:rPr lang="en-US" sz="900">
                <a:solidFill>
                  <a:srgbClr val="D0D5E0"/>
                </a:solidFill>
                <a:latin typeface="Calibri"/>
                <a:ea typeface="Calibri"/>
                <a:cs typeface="Calibri"/>
                <a:sym typeface="Calibri"/>
              </a:rPr>
              <a:t>Themes &amp; Framing</a:t>
            </a:r>
            <a:endParaRPr sz="900">
              <a:solidFill>
                <a:schemeClr val="dk1"/>
              </a:solidFill>
              <a:latin typeface="Calibri"/>
              <a:ea typeface="Calibri"/>
              <a:cs typeface="Calibri"/>
              <a:sym typeface="Calibri"/>
            </a:endParaRPr>
          </a:p>
        </p:txBody>
      </p:sp>
      <p:sp>
        <p:nvSpPr>
          <p:cNvPr id="53" name="Google Shape;53;p3"/>
          <p:cNvSpPr/>
          <p:nvPr/>
        </p:nvSpPr>
        <p:spPr>
          <a:xfrm>
            <a:off x="1325880" y="1051560"/>
            <a:ext cx="74066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4560"/>
              </a:buClr>
              <a:buSzPts val="1400"/>
              <a:buFont typeface="Calibri"/>
              <a:buNone/>
            </a:pPr>
            <a:r>
              <a:rPr lang="en-US" sz="1400">
                <a:solidFill>
                  <a:srgbClr val="3D4560"/>
                </a:solidFill>
                <a:latin typeface="Calibri"/>
                <a:ea typeface="Calibri"/>
                <a:cs typeface="Calibri"/>
                <a:sym typeface="Calibri"/>
              </a:rPr>
              <a:t>What are the dominant AI governance themes, how have they evolved over time, and are they framed as risks, opportunities, or balanced concerns?</a:t>
            </a:r>
            <a:endParaRPr sz="1400">
              <a:solidFill>
                <a:schemeClr val="dk1"/>
              </a:solidFill>
              <a:latin typeface="Calibri"/>
              <a:ea typeface="Calibri"/>
              <a:cs typeface="Calibri"/>
              <a:sym typeface="Calibri"/>
            </a:endParaRPr>
          </a:p>
        </p:txBody>
      </p:sp>
      <p:sp>
        <p:nvSpPr>
          <p:cNvPr id="54" name="Google Shape;54;p3"/>
          <p:cNvSpPr/>
          <p:nvPr/>
        </p:nvSpPr>
        <p:spPr>
          <a:xfrm>
            <a:off x="274320" y="2221992"/>
            <a:ext cx="8595360" cy="1097280"/>
          </a:xfrm>
          <a:prstGeom prst="rect">
            <a:avLst/>
          </a:prstGeom>
          <a:solidFill>
            <a:srgbClr val="FFFFFF"/>
          </a:solidFill>
          <a:ln cap="flat" cmpd="sng" w="9525">
            <a:solidFill>
              <a:srgbClr val="D0D5E0"/>
            </a:solidFill>
            <a:prstDash val="solid"/>
            <a:round/>
            <a:headEnd len="sm" w="sm" type="none"/>
            <a:tailEnd len="sm" w="sm" type="none"/>
          </a:ln>
          <a:effectLst>
            <a:outerShdw blurRad="762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 name="Google Shape;55;p3"/>
          <p:cNvSpPr/>
          <p:nvPr/>
        </p:nvSpPr>
        <p:spPr>
          <a:xfrm>
            <a:off x="274320" y="2221992"/>
            <a:ext cx="914400" cy="1097280"/>
          </a:xfrm>
          <a:prstGeom prst="rect">
            <a:avLst/>
          </a:prstGeom>
          <a:solidFill>
            <a:srgbClr val="1B2F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 name="Google Shape;56;p3"/>
          <p:cNvSpPr/>
          <p:nvPr/>
        </p:nvSpPr>
        <p:spPr>
          <a:xfrm>
            <a:off x="274320" y="2221992"/>
            <a:ext cx="914400" cy="59436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C8A951"/>
              </a:buClr>
              <a:buSzPts val="2200"/>
              <a:buFont typeface="Cambria"/>
              <a:buNone/>
            </a:pPr>
            <a:r>
              <a:rPr b="1" lang="en-US" sz="2200">
                <a:solidFill>
                  <a:srgbClr val="C8A951"/>
                </a:solidFill>
                <a:latin typeface="Cambria"/>
                <a:ea typeface="Cambria"/>
                <a:cs typeface="Cambria"/>
                <a:sym typeface="Cambria"/>
              </a:rPr>
              <a:t>RO2</a:t>
            </a:r>
            <a:endParaRPr sz="2200">
              <a:solidFill>
                <a:schemeClr val="dk1"/>
              </a:solidFill>
              <a:latin typeface="Calibri"/>
              <a:ea typeface="Calibri"/>
              <a:cs typeface="Calibri"/>
              <a:sym typeface="Calibri"/>
            </a:endParaRPr>
          </a:p>
        </p:txBody>
      </p:sp>
      <p:sp>
        <p:nvSpPr>
          <p:cNvPr id="57" name="Google Shape;57;p3"/>
          <p:cNvSpPr/>
          <p:nvPr/>
        </p:nvSpPr>
        <p:spPr>
          <a:xfrm>
            <a:off x="274320" y="2816352"/>
            <a:ext cx="914400" cy="5029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D0D5E0"/>
              </a:buClr>
              <a:buSzPts val="900"/>
              <a:buFont typeface="Calibri"/>
              <a:buNone/>
            </a:pPr>
            <a:r>
              <a:rPr lang="en-US" sz="900">
                <a:solidFill>
                  <a:srgbClr val="D0D5E0"/>
                </a:solidFill>
                <a:latin typeface="Calibri"/>
                <a:ea typeface="Calibri"/>
                <a:cs typeface="Calibri"/>
                <a:sym typeface="Calibri"/>
              </a:rPr>
              <a:t>Spatial Distribution</a:t>
            </a:r>
            <a:endParaRPr sz="900">
              <a:solidFill>
                <a:schemeClr val="dk1"/>
              </a:solidFill>
              <a:latin typeface="Calibri"/>
              <a:ea typeface="Calibri"/>
              <a:cs typeface="Calibri"/>
              <a:sym typeface="Calibri"/>
            </a:endParaRPr>
          </a:p>
        </p:txBody>
      </p:sp>
      <p:sp>
        <p:nvSpPr>
          <p:cNvPr id="58" name="Google Shape;58;p3"/>
          <p:cNvSpPr/>
          <p:nvPr/>
        </p:nvSpPr>
        <p:spPr>
          <a:xfrm>
            <a:off x="1325880" y="2313432"/>
            <a:ext cx="74066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4560"/>
              </a:buClr>
              <a:buSzPts val="1400"/>
              <a:buFont typeface="Calibri"/>
              <a:buNone/>
            </a:pPr>
            <a:r>
              <a:rPr lang="en-US" sz="1400">
                <a:solidFill>
                  <a:srgbClr val="3D4560"/>
                </a:solidFill>
                <a:latin typeface="Calibri"/>
                <a:ea typeface="Calibri"/>
                <a:cs typeface="Calibri"/>
                <a:sym typeface="Calibri"/>
              </a:rPr>
              <a:t>How is AI governance discourse distributed spatially across world regions and contributing institutions, and what patterns of specialization exist?</a:t>
            </a:r>
            <a:endParaRPr sz="1400">
              <a:solidFill>
                <a:schemeClr val="dk1"/>
              </a:solidFill>
              <a:latin typeface="Calibri"/>
              <a:ea typeface="Calibri"/>
              <a:cs typeface="Calibri"/>
              <a:sym typeface="Calibri"/>
            </a:endParaRPr>
          </a:p>
        </p:txBody>
      </p:sp>
      <p:sp>
        <p:nvSpPr>
          <p:cNvPr id="59" name="Google Shape;59;p3"/>
          <p:cNvSpPr/>
          <p:nvPr/>
        </p:nvSpPr>
        <p:spPr>
          <a:xfrm>
            <a:off x="274320" y="3483864"/>
            <a:ext cx="8595360" cy="1097280"/>
          </a:xfrm>
          <a:prstGeom prst="rect">
            <a:avLst/>
          </a:prstGeom>
          <a:solidFill>
            <a:srgbClr val="FFFFFF"/>
          </a:solidFill>
          <a:ln cap="flat" cmpd="sng" w="9525">
            <a:solidFill>
              <a:srgbClr val="D0D5E0"/>
            </a:solidFill>
            <a:prstDash val="solid"/>
            <a:round/>
            <a:headEnd len="sm" w="sm" type="none"/>
            <a:tailEnd len="sm" w="sm" type="none"/>
          </a:ln>
          <a:effectLst>
            <a:outerShdw blurRad="762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 name="Google Shape;60;p3"/>
          <p:cNvSpPr/>
          <p:nvPr/>
        </p:nvSpPr>
        <p:spPr>
          <a:xfrm>
            <a:off x="274320" y="3483864"/>
            <a:ext cx="914400" cy="1097280"/>
          </a:xfrm>
          <a:prstGeom prst="rect">
            <a:avLst/>
          </a:prstGeom>
          <a:solidFill>
            <a:srgbClr val="1B2F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 name="Google Shape;61;p3"/>
          <p:cNvSpPr/>
          <p:nvPr/>
        </p:nvSpPr>
        <p:spPr>
          <a:xfrm>
            <a:off x="274320" y="3483864"/>
            <a:ext cx="914400" cy="59436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C8A951"/>
              </a:buClr>
              <a:buSzPts val="2200"/>
              <a:buFont typeface="Cambria"/>
              <a:buNone/>
            </a:pPr>
            <a:r>
              <a:rPr b="1" lang="en-US" sz="2200">
                <a:solidFill>
                  <a:srgbClr val="C8A951"/>
                </a:solidFill>
                <a:latin typeface="Cambria"/>
                <a:ea typeface="Cambria"/>
                <a:cs typeface="Cambria"/>
                <a:sym typeface="Cambria"/>
              </a:rPr>
              <a:t>RO3</a:t>
            </a:r>
            <a:endParaRPr sz="2200">
              <a:solidFill>
                <a:schemeClr val="dk1"/>
              </a:solidFill>
              <a:latin typeface="Calibri"/>
              <a:ea typeface="Calibri"/>
              <a:cs typeface="Calibri"/>
              <a:sym typeface="Calibri"/>
            </a:endParaRPr>
          </a:p>
        </p:txBody>
      </p:sp>
      <p:sp>
        <p:nvSpPr>
          <p:cNvPr id="62" name="Google Shape;62;p3"/>
          <p:cNvSpPr/>
          <p:nvPr/>
        </p:nvSpPr>
        <p:spPr>
          <a:xfrm>
            <a:off x="274320" y="4078224"/>
            <a:ext cx="914400" cy="5029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D0D5E0"/>
              </a:buClr>
              <a:buSzPts val="900"/>
              <a:buFont typeface="Calibri"/>
              <a:buNone/>
            </a:pPr>
            <a:r>
              <a:rPr lang="en-US" sz="900">
                <a:solidFill>
                  <a:srgbClr val="D0D5E0"/>
                </a:solidFill>
                <a:latin typeface="Calibri"/>
                <a:ea typeface="Calibri"/>
                <a:cs typeface="Calibri"/>
                <a:sym typeface="Calibri"/>
              </a:rPr>
              <a:t>Academic vs. Policy Alignment</a:t>
            </a:r>
            <a:endParaRPr sz="900">
              <a:solidFill>
                <a:schemeClr val="dk1"/>
              </a:solidFill>
              <a:latin typeface="Calibri"/>
              <a:ea typeface="Calibri"/>
              <a:cs typeface="Calibri"/>
              <a:sym typeface="Calibri"/>
            </a:endParaRPr>
          </a:p>
        </p:txBody>
      </p:sp>
      <p:sp>
        <p:nvSpPr>
          <p:cNvPr id="63" name="Google Shape;63;p3"/>
          <p:cNvSpPr/>
          <p:nvPr/>
        </p:nvSpPr>
        <p:spPr>
          <a:xfrm>
            <a:off x="1325880" y="3575304"/>
            <a:ext cx="74066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4560"/>
              </a:buClr>
              <a:buSzPts val="1400"/>
              <a:buFont typeface="Calibri"/>
              <a:buNone/>
            </a:pPr>
            <a:r>
              <a:rPr lang="en-US" sz="1400">
                <a:solidFill>
                  <a:srgbClr val="3D4560"/>
                </a:solidFill>
                <a:latin typeface="Calibri"/>
                <a:ea typeface="Calibri"/>
                <a:cs typeface="Calibri"/>
                <a:sym typeface="Calibri"/>
              </a:rPr>
              <a:t>How do academic and policy corpora compare in terms of governance topic coverage, and where do significant knowledge-policy gaps exist?</a:t>
            </a:r>
            <a:endParaRPr sz="14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68" name="Shape 68"/>
        <p:cNvGrpSpPr/>
        <p:nvPr/>
      </p:nvGrpSpPr>
      <p:grpSpPr>
        <a:xfrm>
          <a:off x="0" y="0"/>
          <a:ext cx="0" cy="0"/>
          <a:chOff x="0" y="0"/>
          <a:chExt cx="0" cy="0"/>
        </a:xfrm>
      </p:grpSpPr>
      <p:sp>
        <p:nvSpPr>
          <p:cNvPr id="69" name="Google Shape;69;p4"/>
          <p:cNvSpPr/>
          <p:nvPr/>
        </p:nvSpPr>
        <p:spPr>
          <a:xfrm>
            <a:off x="0" y="0"/>
            <a:ext cx="9144000" cy="685800"/>
          </a:xfrm>
          <a:prstGeom prst="rect">
            <a:avLst/>
          </a:prstGeom>
          <a:solidFill>
            <a:srgbClr val="1B2F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 name="Google Shape;70;p4"/>
          <p:cNvSpPr/>
          <p:nvPr/>
        </p:nvSpPr>
        <p:spPr>
          <a:xfrm>
            <a:off x="0" y="685800"/>
            <a:ext cx="9144000" cy="54864"/>
          </a:xfrm>
          <a:prstGeom prst="rect">
            <a:avLst/>
          </a:prstGeom>
          <a:solidFill>
            <a:srgbClr val="C8A9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 name="Google Shape;71;p4"/>
          <p:cNvSpPr/>
          <p:nvPr/>
        </p:nvSpPr>
        <p:spPr>
          <a:xfrm>
            <a:off x="365760" y="0"/>
            <a:ext cx="841248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mbria"/>
              <a:buNone/>
            </a:pPr>
            <a:r>
              <a:rPr b="1" lang="en-US" sz="2600">
                <a:solidFill>
                  <a:srgbClr val="FFFFFF"/>
                </a:solidFill>
                <a:latin typeface="Cambria"/>
                <a:ea typeface="Cambria"/>
                <a:cs typeface="Cambria"/>
                <a:sym typeface="Cambria"/>
              </a:rPr>
              <a:t>Data Overview</a:t>
            </a:r>
            <a:endParaRPr sz="2600">
              <a:solidFill>
                <a:schemeClr val="dk1"/>
              </a:solidFill>
              <a:latin typeface="Calibri"/>
              <a:ea typeface="Calibri"/>
              <a:cs typeface="Calibri"/>
              <a:sym typeface="Calibri"/>
            </a:endParaRPr>
          </a:p>
        </p:txBody>
      </p:sp>
      <p:sp>
        <p:nvSpPr>
          <p:cNvPr id="72" name="Google Shape;72;p4"/>
          <p:cNvSpPr/>
          <p:nvPr/>
        </p:nvSpPr>
        <p:spPr>
          <a:xfrm>
            <a:off x="0" y="5001768"/>
            <a:ext cx="9144000" cy="141732"/>
          </a:xfrm>
          <a:prstGeom prst="rect">
            <a:avLst/>
          </a:prstGeom>
          <a:solidFill>
            <a:srgbClr val="1B2F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 name="Google Shape;73;p4"/>
          <p:cNvSpPr/>
          <p:nvPr/>
        </p:nvSpPr>
        <p:spPr>
          <a:xfrm>
            <a:off x="274320" y="5001768"/>
            <a:ext cx="8595360" cy="1417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A951"/>
              </a:buClr>
              <a:buSzPts val="900"/>
              <a:buFont typeface="Calibri"/>
              <a:buNone/>
            </a:pPr>
            <a:r>
              <a:rPr lang="en-US" sz="900">
                <a:solidFill>
                  <a:srgbClr val="C8A951"/>
                </a:solidFill>
                <a:latin typeface="Calibri"/>
                <a:ea typeface="Calibri"/>
                <a:cs typeface="Calibri"/>
                <a:sym typeface="Calibri"/>
              </a:rPr>
              <a:t>Global AI Governance Narratives  |  Charumbira &amp; Gray  |  GWU CCAS  |  Spring 2026</a:t>
            </a:r>
            <a:endParaRPr sz="900">
              <a:solidFill>
                <a:schemeClr val="dk1"/>
              </a:solidFill>
              <a:latin typeface="Calibri"/>
              <a:ea typeface="Calibri"/>
              <a:cs typeface="Calibri"/>
              <a:sym typeface="Calibri"/>
            </a:endParaRPr>
          </a:p>
        </p:txBody>
      </p:sp>
      <p:sp>
        <p:nvSpPr>
          <p:cNvPr id="74" name="Google Shape;74;p4"/>
          <p:cNvSpPr/>
          <p:nvPr/>
        </p:nvSpPr>
        <p:spPr>
          <a:xfrm>
            <a:off x="274320" y="914400"/>
            <a:ext cx="1828800" cy="1051560"/>
          </a:xfrm>
          <a:prstGeom prst="rect">
            <a:avLst/>
          </a:prstGeom>
          <a:solidFill>
            <a:srgbClr val="FFFFFF"/>
          </a:solidFill>
          <a:ln cap="flat" cmpd="sng" w="9525">
            <a:solidFill>
              <a:srgbClr val="D0D5E0"/>
            </a:solidFill>
            <a:prstDash val="solid"/>
            <a:round/>
            <a:headEnd len="sm" w="sm" type="none"/>
            <a:tailEnd len="sm" w="sm" type="none"/>
          </a:ln>
          <a:effectLst>
            <a:outerShdw blurRad="762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 name="Google Shape;75;p4"/>
          <p:cNvSpPr/>
          <p:nvPr/>
        </p:nvSpPr>
        <p:spPr>
          <a:xfrm>
            <a:off x="274320" y="950976"/>
            <a:ext cx="182880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F5E"/>
              </a:buClr>
              <a:buSzPts val="3600"/>
              <a:buFont typeface="Cambria"/>
              <a:buNone/>
            </a:pPr>
            <a:r>
              <a:rPr b="1" lang="en-US" sz="3600">
                <a:solidFill>
                  <a:srgbClr val="1B2F5E"/>
                </a:solidFill>
                <a:latin typeface="Cambria"/>
                <a:ea typeface="Cambria"/>
                <a:cs typeface="Cambria"/>
                <a:sym typeface="Cambria"/>
              </a:rPr>
              <a:t>41,067</a:t>
            </a:r>
            <a:endParaRPr sz="3600">
              <a:solidFill>
                <a:schemeClr val="dk1"/>
              </a:solidFill>
              <a:latin typeface="Calibri"/>
              <a:ea typeface="Calibri"/>
              <a:cs typeface="Calibri"/>
              <a:sym typeface="Calibri"/>
            </a:endParaRPr>
          </a:p>
        </p:txBody>
      </p:sp>
      <p:sp>
        <p:nvSpPr>
          <p:cNvPr id="76" name="Google Shape;76;p4"/>
          <p:cNvSpPr/>
          <p:nvPr/>
        </p:nvSpPr>
        <p:spPr>
          <a:xfrm>
            <a:off x="274320" y="1554480"/>
            <a:ext cx="182880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3D4560"/>
              </a:buClr>
              <a:buSzPts val="1100"/>
              <a:buFont typeface="Calibri"/>
              <a:buNone/>
            </a:pPr>
            <a:r>
              <a:rPr lang="en-US" sz="1100">
                <a:solidFill>
                  <a:srgbClr val="3D4560"/>
                </a:solidFill>
                <a:latin typeface="Calibri"/>
                <a:ea typeface="Calibri"/>
                <a:cs typeface="Calibri"/>
                <a:sym typeface="Calibri"/>
              </a:rPr>
              <a:t>Scopus AI publications</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3D4560"/>
              </a:buClr>
              <a:buSzPts val="1100"/>
              <a:buFont typeface="Calibri"/>
              <a:buNone/>
            </a:pPr>
            <a:r>
              <a:rPr lang="en-US" sz="1100">
                <a:solidFill>
                  <a:srgbClr val="3D4560"/>
                </a:solidFill>
                <a:latin typeface="Calibri"/>
                <a:ea typeface="Calibri"/>
                <a:cs typeface="Calibri"/>
                <a:sym typeface="Calibri"/>
              </a:rPr>
              <a:t>(2015–2025)</a:t>
            </a:r>
            <a:endParaRPr sz="1100">
              <a:solidFill>
                <a:schemeClr val="dk1"/>
              </a:solidFill>
              <a:latin typeface="Calibri"/>
              <a:ea typeface="Calibri"/>
              <a:cs typeface="Calibri"/>
              <a:sym typeface="Calibri"/>
            </a:endParaRPr>
          </a:p>
        </p:txBody>
      </p:sp>
      <p:sp>
        <p:nvSpPr>
          <p:cNvPr id="77" name="Google Shape;77;p4"/>
          <p:cNvSpPr/>
          <p:nvPr/>
        </p:nvSpPr>
        <p:spPr>
          <a:xfrm>
            <a:off x="2331720" y="914400"/>
            <a:ext cx="1828800" cy="1051560"/>
          </a:xfrm>
          <a:prstGeom prst="rect">
            <a:avLst/>
          </a:prstGeom>
          <a:solidFill>
            <a:srgbClr val="FFFFFF"/>
          </a:solidFill>
          <a:ln cap="flat" cmpd="sng" w="9525">
            <a:solidFill>
              <a:srgbClr val="D0D5E0"/>
            </a:solidFill>
            <a:prstDash val="solid"/>
            <a:round/>
            <a:headEnd len="sm" w="sm" type="none"/>
            <a:tailEnd len="sm" w="sm" type="none"/>
          </a:ln>
          <a:effectLst>
            <a:outerShdw blurRad="762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 name="Google Shape;78;p4"/>
          <p:cNvSpPr/>
          <p:nvPr/>
        </p:nvSpPr>
        <p:spPr>
          <a:xfrm>
            <a:off x="2331720" y="950976"/>
            <a:ext cx="182880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F5E"/>
              </a:buClr>
              <a:buSzPts val="3600"/>
              <a:buFont typeface="Cambria"/>
              <a:buNone/>
            </a:pPr>
            <a:r>
              <a:rPr b="1" lang="en-US" sz="3600">
                <a:solidFill>
                  <a:srgbClr val="1B2F5E"/>
                </a:solidFill>
                <a:latin typeface="Cambria"/>
                <a:ea typeface="Cambria"/>
                <a:cs typeface="Cambria"/>
                <a:sym typeface="Cambria"/>
              </a:rPr>
              <a:t>138</a:t>
            </a:r>
            <a:endParaRPr sz="3600">
              <a:solidFill>
                <a:schemeClr val="dk1"/>
              </a:solidFill>
              <a:latin typeface="Calibri"/>
              <a:ea typeface="Calibri"/>
              <a:cs typeface="Calibri"/>
              <a:sym typeface="Calibri"/>
            </a:endParaRPr>
          </a:p>
        </p:txBody>
      </p:sp>
      <p:sp>
        <p:nvSpPr>
          <p:cNvPr id="79" name="Google Shape;79;p4"/>
          <p:cNvSpPr/>
          <p:nvPr/>
        </p:nvSpPr>
        <p:spPr>
          <a:xfrm>
            <a:off x="2331720" y="1554480"/>
            <a:ext cx="182880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3D4560"/>
              </a:buClr>
              <a:buSzPts val="1100"/>
              <a:buFont typeface="Calibri"/>
              <a:buNone/>
            </a:pPr>
            <a:r>
              <a:rPr lang="en-US" sz="1100">
                <a:solidFill>
                  <a:srgbClr val="3D4560"/>
                </a:solidFill>
                <a:latin typeface="Calibri"/>
                <a:ea typeface="Calibri"/>
                <a:cs typeface="Calibri"/>
                <a:sym typeface="Calibri"/>
              </a:rPr>
              <a:t>Countries represented</a:t>
            </a:r>
            <a:endParaRPr sz="1100">
              <a:solidFill>
                <a:schemeClr val="dk1"/>
              </a:solidFill>
              <a:latin typeface="Calibri"/>
              <a:ea typeface="Calibri"/>
              <a:cs typeface="Calibri"/>
              <a:sym typeface="Calibri"/>
            </a:endParaRPr>
          </a:p>
        </p:txBody>
      </p:sp>
      <p:sp>
        <p:nvSpPr>
          <p:cNvPr id="80" name="Google Shape;80;p4"/>
          <p:cNvSpPr/>
          <p:nvPr/>
        </p:nvSpPr>
        <p:spPr>
          <a:xfrm>
            <a:off x="4389120" y="914400"/>
            <a:ext cx="1828800" cy="1051560"/>
          </a:xfrm>
          <a:prstGeom prst="rect">
            <a:avLst/>
          </a:prstGeom>
          <a:solidFill>
            <a:srgbClr val="FFFFFF"/>
          </a:solidFill>
          <a:ln cap="flat" cmpd="sng" w="9525">
            <a:solidFill>
              <a:srgbClr val="D0D5E0"/>
            </a:solidFill>
            <a:prstDash val="solid"/>
            <a:round/>
            <a:headEnd len="sm" w="sm" type="none"/>
            <a:tailEnd len="sm" w="sm" type="none"/>
          </a:ln>
          <a:effectLst>
            <a:outerShdw blurRad="762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 name="Google Shape;81;p4"/>
          <p:cNvSpPr/>
          <p:nvPr/>
        </p:nvSpPr>
        <p:spPr>
          <a:xfrm>
            <a:off x="4389120" y="950976"/>
            <a:ext cx="182880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F5E"/>
              </a:buClr>
              <a:buSzPts val="3600"/>
              <a:buFont typeface="Cambria"/>
              <a:buNone/>
            </a:pPr>
            <a:r>
              <a:rPr b="1" lang="en-US" sz="3600">
                <a:solidFill>
                  <a:srgbClr val="1B2F5E"/>
                </a:solidFill>
                <a:latin typeface="Cambria"/>
                <a:ea typeface="Cambria"/>
                <a:cs typeface="Cambria"/>
                <a:sym typeface="Cambria"/>
              </a:rPr>
              <a:t>35</a:t>
            </a:r>
            <a:endParaRPr sz="3600">
              <a:solidFill>
                <a:schemeClr val="dk1"/>
              </a:solidFill>
              <a:latin typeface="Calibri"/>
              <a:ea typeface="Calibri"/>
              <a:cs typeface="Calibri"/>
              <a:sym typeface="Calibri"/>
            </a:endParaRPr>
          </a:p>
        </p:txBody>
      </p:sp>
      <p:sp>
        <p:nvSpPr>
          <p:cNvPr id="82" name="Google Shape;82;p4"/>
          <p:cNvSpPr/>
          <p:nvPr/>
        </p:nvSpPr>
        <p:spPr>
          <a:xfrm>
            <a:off x="4389120" y="1554480"/>
            <a:ext cx="182880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3D4560"/>
              </a:buClr>
              <a:buSzPts val="1100"/>
              <a:buFont typeface="Calibri"/>
              <a:buNone/>
            </a:pPr>
            <a:r>
              <a:rPr lang="en-US" sz="1100">
                <a:solidFill>
                  <a:srgbClr val="3D4560"/>
                </a:solidFill>
                <a:latin typeface="Calibri"/>
                <a:ea typeface="Calibri"/>
                <a:cs typeface="Calibri"/>
                <a:sym typeface="Calibri"/>
              </a:rPr>
              <a:t>National AI strategy</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3D4560"/>
              </a:buClr>
              <a:buSzPts val="1100"/>
              <a:buFont typeface="Calibri"/>
              <a:buNone/>
            </a:pPr>
            <a:r>
              <a:rPr lang="en-US" sz="1100">
                <a:solidFill>
                  <a:srgbClr val="3D4560"/>
                </a:solidFill>
                <a:latin typeface="Calibri"/>
                <a:ea typeface="Calibri"/>
                <a:cs typeface="Calibri"/>
                <a:sym typeface="Calibri"/>
              </a:rPr>
              <a:t>documents</a:t>
            </a:r>
            <a:endParaRPr sz="1100">
              <a:solidFill>
                <a:schemeClr val="dk1"/>
              </a:solidFill>
              <a:latin typeface="Calibri"/>
              <a:ea typeface="Calibri"/>
              <a:cs typeface="Calibri"/>
              <a:sym typeface="Calibri"/>
            </a:endParaRPr>
          </a:p>
        </p:txBody>
      </p:sp>
      <p:sp>
        <p:nvSpPr>
          <p:cNvPr id="83" name="Google Shape;83;p4"/>
          <p:cNvSpPr/>
          <p:nvPr/>
        </p:nvSpPr>
        <p:spPr>
          <a:xfrm>
            <a:off x="6446520" y="914400"/>
            <a:ext cx="1828800" cy="1051560"/>
          </a:xfrm>
          <a:prstGeom prst="rect">
            <a:avLst/>
          </a:prstGeom>
          <a:solidFill>
            <a:srgbClr val="FFFFFF"/>
          </a:solidFill>
          <a:ln cap="flat" cmpd="sng" w="9525">
            <a:solidFill>
              <a:srgbClr val="D0D5E0"/>
            </a:solidFill>
            <a:prstDash val="solid"/>
            <a:round/>
            <a:headEnd len="sm" w="sm" type="none"/>
            <a:tailEnd len="sm" w="sm" type="none"/>
          </a:ln>
          <a:effectLst>
            <a:outerShdw blurRad="762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 name="Google Shape;84;p4"/>
          <p:cNvSpPr/>
          <p:nvPr/>
        </p:nvSpPr>
        <p:spPr>
          <a:xfrm>
            <a:off x="6446520" y="950976"/>
            <a:ext cx="182880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F5E"/>
              </a:buClr>
              <a:buSzPts val="3600"/>
              <a:buFont typeface="Cambria"/>
              <a:buNone/>
            </a:pPr>
            <a:r>
              <a:rPr b="1" lang="en-US" sz="3600">
                <a:solidFill>
                  <a:srgbClr val="1B2F5E"/>
                </a:solidFill>
                <a:latin typeface="Cambria"/>
                <a:ea typeface="Cambria"/>
                <a:cs typeface="Cambria"/>
                <a:sym typeface="Cambria"/>
              </a:rPr>
              <a:t>40,968</a:t>
            </a:r>
            <a:endParaRPr sz="3600">
              <a:solidFill>
                <a:schemeClr val="dk1"/>
              </a:solidFill>
              <a:latin typeface="Calibri"/>
              <a:ea typeface="Calibri"/>
              <a:cs typeface="Calibri"/>
              <a:sym typeface="Calibri"/>
            </a:endParaRPr>
          </a:p>
        </p:txBody>
      </p:sp>
      <p:sp>
        <p:nvSpPr>
          <p:cNvPr id="85" name="Google Shape;85;p4"/>
          <p:cNvSpPr/>
          <p:nvPr/>
        </p:nvSpPr>
        <p:spPr>
          <a:xfrm>
            <a:off x="6446520" y="1554480"/>
            <a:ext cx="182880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3D4560"/>
              </a:buClr>
              <a:buSzPts val="1100"/>
              <a:buFont typeface="Calibri"/>
              <a:buNone/>
            </a:pPr>
            <a:r>
              <a:rPr lang="en-US" sz="1100">
                <a:solidFill>
                  <a:srgbClr val="3D4560"/>
                </a:solidFill>
                <a:latin typeface="Calibri"/>
                <a:ea typeface="Calibri"/>
                <a:cs typeface="Calibri"/>
                <a:sym typeface="Calibri"/>
              </a:rPr>
              <a:t>Institutions geocoded</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3D4560"/>
              </a:buClr>
              <a:buSzPts val="1100"/>
              <a:buFont typeface="Calibri"/>
              <a:buNone/>
            </a:pPr>
            <a:r>
              <a:rPr lang="en-US" sz="1100">
                <a:solidFill>
                  <a:srgbClr val="3D4560"/>
                </a:solidFill>
                <a:latin typeface="Calibri"/>
                <a:ea typeface="Calibri"/>
                <a:cs typeface="Calibri"/>
                <a:sym typeface="Calibri"/>
              </a:rPr>
              <a:t>(99.96% coverage)</a:t>
            </a:r>
            <a:endParaRPr sz="1100">
              <a:solidFill>
                <a:schemeClr val="dk1"/>
              </a:solidFill>
              <a:latin typeface="Calibri"/>
              <a:ea typeface="Calibri"/>
              <a:cs typeface="Calibri"/>
              <a:sym typeface="Calibri"/>
            </a:endParaRPr>
          </a:p>
        </p:txBody>
      </p:sp>
      <p:sp>
        <p:nvSpPr>
          <p:cNvPr id="86" name="Google Shape;86;p4"/>
          <p:cNvSpPr/>
          <p:nvPr/>
        </p:nvSpPr>
        <p:spPr>
          <a:xfrm>
            <a:off x="274320" y="2148840"/>
            <a:ext cx="4160520" cy="2468880"/>
          </a:xfrm>
          <a:prstGeom prst="rect">
            <a:avLst/>
          </a:prstGeom>
          <a:solidFill>
            <a:srgbClr val="FFFFFF"/>
          </a:solidFill>
          <a:ln cap="flat" cmpd="sng" w="9525">
            <a:solidFill>
              <a:srgbClr val="D0D5E0"/>
            </a:solidFill>
            <a:prstDash val="solid"/>
            <a:round/>
            <a:headEnd len="sm" w="sm" type="none"/>
            <a:tailEnd len="sm" w="sm" type="none"/>
          </a:ln>
          <a:effectLst>
            <a:outerShdw blurRad="762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 name="Google Shape;87;p4"/>
          <p:cNvSpPr/>
          <p:nvPr/>
        </p:nvSpPr>
        <p:spPr>
          <a:xfrm>
            <a:off x="502920" y="2240280"/>
            <a:ext cx="3657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F5E"/>
              </a:buClr>
              <a:buSzPts val="1500"/>
              <a:buFont typeface="Cambria"/>
              <a:buNone/>
            </a:pPr>
            <a:r>
              <a:rPr b="1" lang="en-US" sz="1500">
                <a:solidFill>
                  <a:srgbClr val="1B2F5E"/>
                </a:solidFill>
                <a:latin typeface="Cambria"/>
                <a:ea typeface="Cambria"/>
                <a:cs typeface="Cambria"/>
                <a:sym typeface="Cambria"/>
              </a:rPr>
              <a:t>Academic Corpus</a:t>
            </a:r>
            <a:endParaRPr sz="1500">
              <a:solidFill>
                <a:schemeClr val="dk1"/>
              </a:solidFill>
              <a:latin typeface="Calibri"/>
              <a:ea typeface="Calibri"/>
              <a:cs typeface="Calibri"/>
              <a:sym typeface="Calibri"/>
            </a:endParaRPr>
          </a:p>
        </p:txBody>
      </p:sp>
      <p:sp>
        <p:nvSpPr>
          <p:cNvPr id="88" name="Google Shape;88;p4"/>
          <p:cNvSpPr/>
          <p:nvPr/>
        </p:nvSpPr>
        <p:spPr>
          <a:xfrm>
            <a:off x="502920" y="2532888"/>
            <a:ext cx="822960" cy="36576"/>
          </a:xfrm>
          <a:prstGeom prst="rect">
            <a:avLst/>
          </a:prstGeom>
          <a:solidFill>
            <a:srgbClr val="C8A9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 name="Google Shape;89;p4"/>
          <p:cNvSpPr/>
          <p:nvPr/>
        </p:nvSpPr>
        <p:spPr>
          <a:xfrm>
            <a:off x="502920" y="2633472"/>
            <a:ext cx="3657600" cy="1874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D4560"/>
              </a:buClr>
              <a:buSzPts val="1200"/>
              <a:buFont typeface="Calibri"/>
              <a:buNone/>
            </a:pPr>
            <a:r>
              <a:rPr lang="en-US" sz="1200">
                <a:solidFill>
                  <a:srgbClr val="3D4560"/>
                </a:solidFill>
                <a:latin typeface="Calibri"/>
                <a:ea typeface="Calibri"/>
                <a:cs typeface="Calibri"/>
                <a:sym typeface="Calibri"/>
              </a:rPr>
              <a:t>Source: Scopus — peer-reviewed AI publications at the intersection of governance, ethics, risk, regulation, policy, fairness, accountability, and transparency</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3D4560"/>
              </a:buClr>
              <a:buSzPts val="1200"/>
              <a:buFont typeface="Calibri"/>
              <a:buNone/>
            </a:pPr>
            <a:r>
              <a:rPr lang="en-US" sz="1200">
                <a:solidFill>
                  <a:srgbClr val="3D4560"/>
                </a:solidFill>
                <a:latin typeface="Calibri"/>
                <a:ea typeface="Calibri"/>
                <a:cs typeface="Calibri"/>
                <a:sym typeface="Calibri"/>
              </a:rPr>
              <a:t> </a:t>
            </a:r>
            <a:endParaRPr sz="1200">
              <a:solidFill>
                <a:schemeClr val="dk1"/>
              </a:solidFill>
              <a:latin typeface="Calibri"/>
              <a:ea typeface="Calibri"/>
              <a:cs typeface="Calibri"/>
              <a:sym typeface="Calibri"/>
            </a:endParaRPr>
          </a:p>
          <a:p>
            <a:pPr indent="-342900" lvl="0" marL="342900" marR="0" rtl="0" algn="l">
              <a:spcBef>
                <a:spcPts val="0"/>
              </a:spcBef>
              <a:spcAft>
                <a:spcPts val="0"/>
              </a:spcAft>
              <a:buClr>
                <a:srgbClr val="3D4560"/>
              </a:buClr>
              <a:buSzPts val="1200"/>
              <a:buFont typeface="Calibri"/>
              <a:buChar char="•"/>
            </a:pPr>
            <a:r>
              <a:rPr lang="en-US" sz="1200">
                <a:solidFill>
                  <a:srgbClr val="3D4560"/>
                </a:solidFill>
                <a:latin typeface="Calibri"/>
                <a:ea typeface="Calibri"/>
                <a:cs typeface="Calibri"/>
                <a:sym typeface="Calibri"/>
              </a:rPr>
              <a:t>Pre-ChatGPT (2015–2021): n = 8,088</a:t>
            </a:r>
            <a:endParaRPr sz="1200">
              <a:solidFill>
                <a:schemeClr val="dk1"/>
              </a:solidFill>
              <a:latin typeface="Calibri"/>
              <a:ea typeface="Calibri"/>
              <a:cs typeface="Calibri"/>
              <a:sym typeface="Calibri"/>
            </a:endParaRPr>
          </a:p>
          <a:p>
            <a:pPr indent="-342900" lvl="0" marL="342900" marR="0" rtl="0" algn="l">
              <a:spcBef>
                <a:spcPts val="0"/>
              </a:spcBef>
              <a:spcAft>
                <a:spcPts val="0"/>
              </a:spcAft>
              <a:buClr>
                <a:srgbClr val="3D4560"/>
              </a:buClr>
              <a:buSzPts val="1200"/>
              <a:buFont typeface="Calibri"/>
              <a:buChar char="•"/>
            </a:pPr>
            <a:r>
              <a:rPr lang="en-US" sz="1200">
                <a:solidFill>
                  <a:srgbClr val="3D4560"/>
                </a:solidFill>
                <a:latin typeface="Calibri"/>
                <a:ea typeface="Calibri"/>
                <a:cs typeface="Calibri"/>
                <a:sym typeface="Calibri"/>
              </a:rPr>
              <a:t>Post-ChatGPT (2022–2025): n = 32,979</a:t>
            </a:r>
            <a:endParaRPr sz="1200">
              <a:solidFill>
                <a:srgbClr val="3D4560"/>
              </a:solidFill>
              <a:latin typeface="Calibri"/>
              <a:ea typeface="Calibri"/>
              <a:cs typeface="Calibri"/>
              <a:sym typeface="Calibri"/>
            </a:endParaRPr>
          </a:p>
          <a:p>
            <a:pPr indent="-342900" lvl="0" marL="342900" marR="0" rtl="0" algn="l">
              <a:spcBef>
                <a:spcPts val="0"/>
              </a:spcBef>
              <a:spcAft>
                <a:spcPts val="0"/>
              </a:spcAft>
              <a:buClr>
                <a:srgbClr val="3D4560"/>
              </a:buClr>
              <a:buSzPts val="1200"/>
              <a:buFont typeface="Calibri"/>
              <a:buChar char="•"/>
            </a:pPr>
            <a:r>
              <a:rPr lang="en-US" sz="1200">
                <a:solidFill>
                  <a:srgbClr val="3D4560"/>
                </a:solidFill>
                <a:latin typeface="Calibri"/>
                <a:ea typeface="Calibri"/>
                <a:cs typeface="Calibri"/>
                <a:sym typeface="Calibri"/>
              </a:rPr>
              <a:t>7.8% of sampled AI publications </a:t>
            </a:r>
            <a:r>
              <a:rPr lang="en-US" sz="1200">
                <a:solidFill>
                  <a:srgbClr val="3D4560"/>
                </a:solidFill>
                <a:latin typeface="Calibri"/>
                <a:ea typeface="Calibri"/>
                <a:cs typeface="Calibri"/>
                <a:sym typeface="Calibri"/>
              </a:rPr>
              <a:t>(n= 3,186)</a:t>
            </a:r>
            <a:r>
              <a:rPr lang="en-US" sz="1200">
                <a:solidFill>
                  <a:srgbClr val="3D4560"/>
                </a:solidFill>
                <a:latin typeface="Calibri"/>
                <a:ea typeface="Calibri"/>
                <a:cs typeface="Calibri"/>
                <a:sym typeface="Calibri"/>
              </a:rPr>
              <a:t> are governance related </a:t>
            </a:r>
            <a:endParaRPr sz="1200">
              <a:solidFill>
                <a:srgbClr val="3D4560"/>
              </a:solidFill>
              <a:latin typeface="Calibri"/>
              <a:ea typeface="Calibri"/>
              <a:cs typeface="Calibri"/>
              <a:sym typeface="Calibri"/>
            </a:endParaRPr>
          </a:p>
          <a:p>
            <a:pPr indent="-342900" lvl="0" marL="342900" marR="0" rtl="0" algn="l">
              <a:spcBef>
                <a:spcPts val="0"/>
              </a:spcBef>
              <a:spcAft>
                <a:spcPts val="0"/>
              </a:spcAft>
              <a:buClr>
                <a:srgbClr val="3D4560"/>
              </a:buClr>
              <a:buSzPts val="1200"/>
              <a:buFont typeface="Calibri"/>
              <a:buChar char="•"/>
            </a:pPr>
            <a:r>
              <a:rPr lang="en-US" sz="1200">
                <a:solidFill>
                  <a:srgbClr val="3D4560"/>
                </a:solidFill>
                <a:latin typeface="Calibri"/>
                <a:ea typeface="Calibri"/>
                <a:cs typeface="Calibri"/>
                <a:sym typeface="Calibri"/>
              </a:rPr>
              <a:t>Records with &lt;50 abstract words excluded after deduplication</a:t>
            </a:r>
            <a:endParaRPr sz="1200">
              <a:solidFill>
                <a:srgbClr val="3D4560"/>
              </a:solidFill>
              <a:latin typeface="Calibri"/>
              <a:ea typeface="Calibri"/>
              <a:cs typeface="Calibri"/>
              <a:sym typeface="Calibri"/>
            </a:endParaRPr>
          </a:p>
        </p:txBody>
      </p:sp>
      <p:sp>
        <p:nvSpPr>
          <p:cNvPr id="90" name="Google Shape;90;p4"/>
          <p:cNvSpPr/>
          <p:nvPr/>
        </p:nvSpPr>
        <p:spPr>
          <a:xfrm>
            <a:off x="4663440" y="2148840"/>
            <a:ext cx="4206240" cy="2468880"/>
          </a:xfrm>
          <a:prstGeom prst="rect">
            <a:avLst/>
          </a:prstGeom>
          <a:solidFill>
            <a:srgbClr val="FFFFFF"/>
          </a:solidFill>
          <a:ln cap="flat" cmpd="sng" w="9525">
            <a:solidFill>
              <a:srgbClr val="D0D5E0"/>
            </a:solidFill>
            <a:prstDash val="solid"/>
            <a:round/>
            <a:headEnd len="sm" w="sm" type="none"/>
            <a:tailEnd len="sm" w="sm" type="none"/>
          </a:ln>
          <a:effectLst>
            <a:outerShdw blurRad="762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 name="Google Shape;91;p4"/>
          <p:cNvSpPr/>
          <p:nvPr/>
        </p:nvSpPr>
        <p:spPr>
          <a:xfrm>
            <a:off x="4892040" y="2240280"/>
            <a:ext cx="37490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F5E"/>
              </a:buClr>
              <a:buSzPts val="1500"/>
              <a:buFont typeface="Cambria"/>
              <a:buNone/>
            </a:pPr>
            <a:r>
              <a:rPr b="1" lang="en-US" sz="1500">
                <a:solidFill>
                  <a:srgbClr val="1B2F5E"/>
                </a:solidFill>
                <a:latin typeface="Cambria"/>
                <a:ea typeface="Cambria"/>
                <a:cs typeface="Cambria"/>
                <a:sym typeface="Cambria"/>
              </a:rPr>
              <a:t>Policy Corpus</a:t>
            </a:r>
            <a:endParaRPr sz="1500">
              <a:solidFill>
                <a:schemeClr val="dk1"/>
              </a:solidFill>
              <a:latin typeface="Calibri"/>
              <a:ea typeface="Calibri"/>
              <a:cs typeface="Calibri"/>
              <a:sym typeface="Calibri"/>
            </a:endParaRPr>
          </a:p>
        </p:txBody>
      </p:sp>
      <p:sp>
        <p:nvSpPr>
          <p:cNvPr id="92" name="Google Shape;92;p4"/>
          <p:cNvSpPr/>
          <p:nvPr/>
        </p:nvSpPr>
        <p:spPr>
          <a:xfrm>
            <a:off x="4892040" y="2532888"/>
            <a:ext cx="822960" cy="36576"/>
          </a:xfrm>
          <a:prstGeom prst="rect">
            <a:avLst/>
          </a:prstGeom>
          <a:solidFill>
            <a:srgbClr val="C8A9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 name="Google Shape;93;p4"/>
          <p:cNvSpPr/>
          <p:nvPr/>
        </p:nvSpPr>
        <p:spPr>
          <a:xfrm>
            <a:off x="4892040" y="2633472"/>
            <a:ext cx="3749040" cy="1874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D4560"/>
              </a:buClr>
              <a:buSzPts val="1200"/>
              <a:buFont typeface="Calibri"/>
              <a:buNone/>
            </a:pPr>
            <a:r>
              <a:rPr lang="en-US" sz="1200">
                <a:solidFill>
                  <a:srgbClr val="3D4560"/>
                </a:solidFill>
                <a:latin typeface="Calibri"/>
                <a:ea typeface="Calibri"/>
                <a:cs typeface="Calibri"/>
                <a:sym typeface="Calibri"/>
              </a:rPr>
              <a:t>Source: OECD AI Policy Observatory + official government portals</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3D4560"/>
              </a:buClr>
              <a:buSzPts val="1200"/>
              <a:buFont typeface="Calibri"/>
              <a:buNone/>
            </a:pPr>
            <a:r>
              <a:rPr lang="en-US" sz="1200">
                <a:solidFill>
                  <a:srgbClr val="3D4560"/>
                </a:solidFill>
                <a:latin typeface="Calibri"/>
                <a:ea typeface="Calibri"/>
                <a:cs typeface="Calibri"/>
                <a:sym typeface="Calibri"/>
              </a:rPr>
              <a:t> </a:t>
            </a:r>
            <a:endParaRPr sz="1200">
              <a:solidFill>
                <a:schemeClr val="dk1"/>
              </a:solidFill>
              <a:latin typeface="Calibri"/>
              <a:ea typeface="Calibri"/>
              <a:cs typeface="Calibri"/>
              <a:sym typeface="Calibri"/>
            </a:endParaRPr>
          </a:p>
          <a:p>
            <a:pPr indent="-342900" lvl="0" marL="342900" marR="0" rtl="0" algn="l">
              <a:spcBef>
                <a:spcPts val="0"/>
              </a:spcBef>
              <a:spcAft>
                <a:spcPts val="0"/>
              </a:spcAft>
              <a:buClr>
                <a:srgbClr val="3D4560"/>
              </a:buClr>
              <a:buSzPts val="1200"/>
              <a:buFont typeface="Calibri"/>
              <a:buChar char="•"/>
            </a:pPr>
            <a:r>
              <a:rPr lang="en-US" sz="1200">
                <a:solidFill>
                  <a:srgbClr val="3D4560"/>
                </a:solidFill>
                <a:latin typeface="Calibri"/>
                <a:ea typeface="Calibri"/>
                <a:cs typeface="Calibri"/>
                <a:sym typeface="Calibri"/>
              </a:rPr>
              <a:t>35 national/international AI strategy docs &amp; frameworks</a:t>
            </a:r>
            <a:endParaRPr sz="1200">
              <a:solidFill>
                <a:schemeClr val="dk1"/>
              </a:solidFill>
              <a:latin typeface="Calibri"/>
              <a:ea typeface="Calibri"/>
              <a:cs typeface="Calibri"/>
              <a:sym typeface="Calibri"/>
            </a:endParaRPr>
          </a:p>
          <a:p>
            <a:pPr indent="-342900" lvl="0" marL="342900" marR="0" rtl="0" algn="l">
              <a:spcBef>
                <a:spcPts val="0"/>
              </a:spcBef>
              <a:spcAft>
                <a:spcPts val="0"/>
              </a:spcAft>
              <a:buClr>
                <a:srgbClr val="3D4560"/>
              </a:buClr>
              <a:buSzPts val="1200"/>
              <a:buFont typeface="Calibri"/>
              <a:buChar char="•"/>
            </a:pPr>
            <a:r>
              <a:rPr lang="en-US" sz="1200">
                <a:solidFill>
                  <a:srgbClr val="3D4560"/>
                </a:solidFill>
                <a:latin typeface="Calibri"/>
                <a:ea typeface="Calibri"/>
                <a:cs typeface="Calibri"/>
                <a:sym typeface="Calibri"/>
              </a:rPr>
              <a:t>Regions: North America, Europe, Asia-Pacific, Latin America, Africa &amp; Middle East + intl. bodies</a:t>
            </a:r>
            <a:endParaRPr sz="1200">
              <a:solidFill>
                <a:schemeClr val="dk1"/>
              </a:solidFill>
              <a:latin typeface="Calibri"/>
              <a:ea typeface="Calibri"/>
              <a:cs typeface="Calibri"/>
              <a:sym typeface="Calibri"/>
            </a:endParaRPr>
          </a:p>
          <a:p>
            <a:pPr indent="-342900" lvl="0" marL="342900" marR="0" rtl="0" algn="l">
              <a:spcBef>
                <a:spcPts val="0"/>
              </a:spcBef>
              <a:spcAft>
                <a:spcPts val="0"/>
              </a:spcAft>
              <a:buClr>
                <a:srgbClr val="3D4560"/>
              </a:buClr>
              <a:buSzPts val="1200"/>
              <a:buFont typeface="Calibri"/>
              <a:buChar char="•"/>
            </a:pPr>
            <a:r>
              <a:rPr lang="en-US" sz="1200">
                <a:solidFill>
                  <a:srgbClr val="3D4560"/>
                </a:solidFill>
                <a:latin typeface="Calibri"/>
                <a:ea typeface="Calibri"/>
                <a:cs typeface="Calibri"/>
                <a:sym typeface="Calibri"/>
              </a:rPr>
              <a:t>Chunked into 500-word segments (50-word overlap) → 1,557 chunks</a:t>
            </a:r>
            <a:endParaRPr sz="12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98" name="Shape 98"/>
        <p:cNvGrpSpPr/>
        <p:nvPr/>
      </p:nvGrpSpPr>
      <p:grpSpPr>
        <a:xfrm>
          <a:off x="0" y="0"/>
          <a:ext cx="0" cy="0"/>
          <a:chOff x="0" y="0"/>
          <a:chExt cx="0" cy="0"/>
        </a:xfrm>
      </p:grpSpPr>
      <p:sp>
        <p:nvSpPr>
          <p:cNvPr id="99" name="Google Shape;99;p5"/>
          <p:cNvSpPr/>
          <p:nvPr/>
        </p:nvSpPr>
        <p:spPr>
          <a:xfrm>
            <a:off x="0" y="0"/>
            <a:ext cx="9144000" cy="685800"/>
          </a:xfrm>
          <a:prstGeom prst="rect">
            <a:avLst/>
          </a:prstGeom>
          <a:solidFill>
            <a:srgbClr val="1B2F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 name="Google Shape;100;p5"/>
          <p:cNvSpPr/>
          <p:nvPr/>
        </p:nvSpPr>
        <p:spPr>
          <a:xfrm>
            <a:off x="0" y="685800"/>
            <a:ext cx="9144000" cy="54864"/>
          </a:xfrm>
          <a:prstGeom prst="rect">
            <a:avLst/>
          </a:prstGeom>
          <a:solidFill>
            <a:srgbClr val="C8A9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 name="Google Shape;101;p5"/>
          <p:cNvSpPr/>
          <p:nvPr/>
        </p:nvSpPr>
        <p:spPr>
          <a:xfrm>
            <a:off x="365760" y="0"/>
            <a:ext cx="841248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mbria"/>
              <a:buNone/>
            </a:pPr>
            <a:r>
              <a:rPr b="1" lang="en-US" sz="2600">
                <a:solidFill>
                  <a:srgbClr val="FFFFFF"/>
                </a:solidFill>
                <a:latin typeface="Cambria"/>
                <a:ea typeface="Cambria"/>
                <a:cs typeface="Cambria"/>
                <a:sym typeface="Cambria"/>
              </a:rPr>
              <a:t>Methodology</a:t>
            </a:r>
            <a:endParaRPr sz="2600">
              <a:solidFill>
                <a:schemeClr val="dk1"/>
              </a:solidFill>
              <a:latin typeface="Calibri"/>
              <a:ea typeface="Calibri"/>
              <a:cs typeface="Calibri"/>
              <a:sym typeface="Calibri"/>
            </a:endParaRPr>
          </a:p>
        </p:txBody>
      </p:sp>
      <p:sp>
        <p:nvSpPr>
          <p:cNvPr id="102" name="Google Shape;102;p5"/>
          <p:cNvSpPr/>
          <p:nvPr/>
        </p:nvSpPr>
        <p:spPr>
          <a:xfrm>
            <a:off x="0" y="5001768"/>
            <a:ext cx="9144000" cy="141732"/>
          </a:xfrm>
          <a:prstGeom prst="rect">
            <a:avLst/>
          </a:prstGeom>
          <a:solidFill>
            <a:srgbClr val="1B2F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 name="Google Shape;103;p5"/>
          <p:cNvSpPr/>
          <p:nvPr/>
        </p:nvSpPr>
        <p:spPr>
          <a:xfrm>
            <a:off x="274320" y="5001768"/>
            <a:ext cx="8595360" cy="1417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A951"/>
              </a:buClr>
              <a:buSzPts val="900"/>
              <a:buFont typeface="Calibri"/>
              <a:buNone/>
            </a:pPr>
            <a:r>
              <a:rPr lang="en-US" sz="900">
                <a:solidFill>
                  <a:srgbClr val="C8A951"/>
                </a:solidFill>
                <a:latin typeface="Calibri"/>
                <a:ea typeface="Calibri"/>
                <a:cs typeface="Calibri"/>
                <a:sym typeface="Calibri"/>
              </a:rPr>
              <a:t>Global AI Governance Narratives  |  Charumbira &amp; Gray  |  GWU CCAS  |  Spring 2026</a:t>
            </a:r>
            <a:endParaRPr sz="900">
              <a:solidFill>
                <a:schemeClr val="dk1"/>
              </a:solidFill>
              <a:latin typeface="Calibri"/>
              <a:ea typeface="Calibri"/>
              <a:cs typeface="Calibri"/>
              <a:sym typeface="Calibri"/>
            </a:endParaRPr>
          </a:p>
        </p:txBody>
      </p:sp>
      <p:sp>
        <p:nvSpPr>
          <p:cNvPr id="104" name="Google Shape;104;p5"/>
          <p:cNvSpPr/>
          <p:nvPr/>
        </p:nvSpPr>
        <p:spPr>
          <a:xfrm>
            <a:off x="274320" y="914400"/>
            <a:ext cx="4160520" cy="1234440"/>
          </a:xfrm>
          <a:prstGeom prst="rect">
            <a:avLst/>
          </a:prstGeom>
          <a:solidFill>
            <a:srgbClr val="FFFFFF"/>
          </a:solidFill>
          <a:ln cap="flat" cmpd="sng" w="9525">
            <a:solidFill>
              <a:srgbClr val="D0D5E0"/>
            </a:solidFill>
            <a:prstDash val="solid"/>
            <a:round/>
            <a:headEnd len="sm" w="sm" type="none"/>
            <a:tailEnd len="sm" w="sm" type="none"/>
          </a:ln>
          <a:effectLst>
            <a:outerShdw blurRad="762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 name="Google Shape;105;p5"/>
          <p:cNvSpPr/>
          <p:nvPr/>
        </p:nvSpPr>
        <p:spPr>
          <a:xfrm>
            <a:off x="274320" y="914400"/>
            <a:ext cx="347472" cy="1234440"/>
          </a:xfrm>
          <a:prstGeom prst="rect">
            <a:avLst/>
          </a:prstGeom>
          <a:solidFill>
            <a:srgbClr val="1B2F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 name="Google Shape;106;p5"/>
          <p:cNvSpPr/>
          <p:nvPr/>
        </p:nvSpPr>
        <p:spPr>
          <a:xfrm>
            <a:off x="274320" y="914400"/>
            <a:ext cx="347472" cy="12344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A951"/>
              </a:buClr>
              <a:buSzPts val="1800"/>
              <a:buFont typeface="Cambria"/>
              <a:buNone/>
            </a:pPr>
            <a:r>
              <a:rPr b="1" lang="en-US" sz="1800">
                <a:solidFill>
                  <a:srgbClr val="C8A951"/>
                </a:solidFill>
                <a:latin typeface="Cambria"/>
                <a:ea typeface="Cambria"/>
                <a:cs typeface="Cambria"/>
                <a:sym typeface="Cambria"/>
              </a:rPr>
              <a:t>1</a:t>
            </a:r>
            <a:endParaRPr sz="1800">
              <a:solidFill>
                <a:schemeClr val="dk1"/>
              </a:solidFill>
              <a:latin typeface="Calibri"/>
              <a:ea typeface="Calibri"/>
              <a:cs typeface="Calibri"/>
              <a:sym typeface="Calibri"/>
            </a:endParaRPr>
          </a:p>
        </p:txBody>
      </p:sp>
      <p:sp>
        <p:nvSpPr>
          <p:cNvPr id="107" name="Google Shape;107;p5"/>
          <p:cNvSpPr/>
          <p:nvPr/>
        </p:nvSpPr>
        <p:spPr>
          <a:xfrm>
            <a:off x="731520" y="987552"/>
            <a:ext cx="3611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F5E"/>
              </a:buClr>
              <a:buSzPts val="1200"/>
              <a:buFont typeface="Cambria"/>
              <a:buNone/>
            </a:pPr>
            <a:r>
              <a:rPr b="1" lang="en-US" sz="1200">
                <a:solidFill>
                  <a:srgbClr val="1B2F5E"/>
                </a:solidFill>
                <a:latin typeface="Cambria"/>
                <a:ea typeface="Cambria"/>
                <a:cs typeface="Cambria"/>
                <a:sym typeface="Cambria"/>
              </a:rPr>
              <a:t>Embedding Model Selection</a:t>
            </a:r>
            <a:endParaRPr sz="1200">
              <a:solidFill>
                <a:schemeClr val="dk1"/>
              </a:solidFill>
              <a:latin typeface="Calibri"/>
              <a:ea typeface="Calibri"/>
              <a:cs typeface="Calibri"/>
              <a:sym typeface="Calibri"/>
            </a:endParaRPr>
          </a:p>
        </p:txBody>
      </p:sp>
      <p:sp>
        <p:nvSpPr>
          <p:cNvPr id="108" name="Google Shape;108;p5"/>
          <p:cNvSpPr/>
          <p:nvPr/>
        </p:nvSpPr>
        <p:spPr>
          <a:xfrm>
            <a:off x="731520" y="1261872"/>
            <a:ext cx="36118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4560"/>
              </a:buClr>
              <a:buSzPts val="1100"/>
              <a:buFont typeface="Calibri"/>
              <a:buNone/>
            </a:pPr>
            <a:r>
              <a:rPr lang="en-US" sz="1100">
                <a:solidFill>
                  <a:srgbClr val="3D4560"/>
                </a:solidFill>
                <a:latin typeface="Calibri"/>
                <a:ea typeface="Calibri"/>
                <a:cs typeface="Calibri"/>
                <a:sym typeface="Calibri"/>
              </a:rPr>
              <a:t>Benchmarked all-MiniLM-L6-v2, all-mpnet-base-v2, and paraphrase-multilingual-MiniLM-L12-v2 on coherence, diversity &amp; outlier rate. Selected all-MiniLM-L6-v2 (coherence 0.716, diversity 0.747).</a:t>
            </a:r>
            <a:endParaRPr sz="1100">
              <a:solidFill>
                <a:schemeClr val="dk1"/>
              </a:solidFill>
              <a:latin typeface="Calibri"/>
              <a:ea typeface="Calibri"/>
              <a:cs typeface="Calibri"/>
              <a:sym typeface="Calibri"/>
            </a:endParaRPr>
          </a:p>
        </p:txBody>
      </p:sp>
      <p:sp>
        <p:nvSpPr>
          <p:cNvPr id="109" name="Google Shape;109;p5"/>
          <p:cNvSpPr/>
          <p:nvPr/>
        </p:nvSpPr>
        <p:spPr>
          <a:xfrm>
            <a:off x="4663440" y="914400"/>
            <a:ext cx="4160520" cy="1234440"/>
          </a:xfrm>
          <a:prstGeom prst="rect">
            <a:avLst/>
          </a:prstGeom>
          <a:solidFill>
            <a:srgbClr val="FFFFFF"/>
          </a:solidFill>
          <a:ln cap="flat" cmpd="sng" w="9525">
            <a:solidFill>
              <a:srgbClr val="D0D5E0"/>
            </a:solidFill>
            <a:prstDash val="solid"/>
            <a:round/>
            <a:headEnd len="sm" w="sm" type="none"/>
            <a:tailEnd len="sm" w="sm" type="none"/>
          </a:ln>
          <a:effectLst>
            <a:outerShdw blurRad="762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 name="Google Shape;110;p5"/>
          <p:cNvSpPr/>
          <p:nvPr/>
        </p:nvSpPr>
        <p:spPr>
          <a:xfrm>
            <a:off x="4663440" y="914400"/>
            <a:ext cx="347472" cy="1234440"/>
          </a:xfrm>
          <a:prstGeom prst="rect">
            <a:avLst/>
          </a:prstGeom>
          <a:solidFill>
            <a:srgbClr val="1B2F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 name="Google Shape;111;p5"/>
          <p:cNvSpPr/>
          <p:nvPr/>
        </p:nvSpPr>
        <p:spPr>
          <a:xfrm>
            <a:off x="4663440" y="914400"/>
            <a:ext cx="347472" cy="12344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A951"/>
              </a:buClr>
              <a:buSzPts val="1800"/>
              <a:buFont typeface="Cambria"/>
              <a:buNone/>
            </a:pPr>
            <a:r>
              <a:rPr b="1" lang="en-US" sz="1800">
                <a:solidFill>
                  <a:srgbClr val="C8A951"/>
                </a:solidFill>
                <a:latin typeface="Cambria"/>
                <a:ea typeface="Cambria"/>
                <a:cs typeface="Cambria"/>
                <a:sym typeface="Cambria"/>
              </a:rPr>
              <a:t>2</a:t>
            </a:r>
            <a:endParaRPr sz="1800">
              <a:solidFill>
                <a:schemeClr val="dk1"/>
              </a:solidFill>
              <a:latin typeface="Calibri"/>
              <a:ea typeface="Calibri"/>
              <a:cs typeface="Calibri"/>
              <a:sym typeface="Calibri"/>
            </a:endParaRPr>
          </a:p>
        </p:txBody>
      </p:sp>
      <p:sp>
        <p:nvSpPr>
          <p:cNvPr id="112" name="Google Shape;112;p5"/>
          <p:cNvSpPr/>
          <p:nvPr/>
        </p:nvSpPr>
        <p:spPr>
          <a:xfrm>
            <a:off x="5120640" y="987552"/>
            <a:ext cx="3611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F5E"/>
              </a:buClr>
              <a:buSzPts val="1200"/>
              <a:buFont typeface="Cambria"/>
              <a:buNone/>
            </a:pPr>
            <a:r>
              <a:rPr b="1" lang="en-US" sz="1200">
                <a:solidFill>
                  <a:srgbClr val="1B2F5E"/>
                </a:solidFill>
                <a:latin typeface="Cambria"/>
                <a:ea typeface="Cambria"/>
                <a:cs typeface="Cambria"/>
                <a:sym typeface="Cambria"/>
              </a:rPr>
              <a:t>Stage 1 — BERTopic</a:t>
            </a:r>
            <a:endParaRPr sz="1200">
              <a:solidFill>
                <a:schemeClr val="dk1"/>
              </a:solidFill>
              <a:latin typeface="Calibri"/>
              <a:ea typeface="Calibri"/>
              <a:cs typeface="Calibri"/>
              <a:sym typeface="Calibri"/>
            </a:endParaRPr>
          </a:p>
        </p:txBody>
      </p:sp>
      <p:sp>
        <p:nvSpPr>
          <p:cNvPr id="113" name="Google Shape;113;p5"/>
          <p:cNvSpPr/>
          <p:nvPr/>
        </p:nvSpPr>
        <p:spPr>
          <a:xfrm>
            <a:off x="5120640" y="1261872"/>
            <a:ext cx="36118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4560"/>
              </a:buClr>
              <a:buSzPts val="1100"/>
              <a:buFont typeface="Calibri"/>
              <a:buNone/>
            </a:pPr>
            <a:r>
              <a:rPr lang="en-US" sz="1100">
                <a:solidFill>
                  <a:srgbClr val="3D4560"/>
                </a:solidFill>
                <a:latin typeface="Calibri"/>
                <a:ea typeface="Calibri"/>
                <a:cs typeface="Calibri"/>
                <a:sym typeface="Calibri"/>
              </a:rPr>
              <a:t>UMAP (n_neighbors=15, n_components=10) + HDBSCAN (min_cluster_size=50) → 46 topics. 53% of papers fell into a generic catch-all cluster.</a:t>
            </a:r>
            <a:endParaRPr sz="1100">
              <a:solidFill>
                <a:schemeClr val="dk1"/>
              </a:solidFill>
              <a:latin typeface="Calibri"/>
              <a:ea typeface="Calibri"/>
              <a:cs typeface="Calibri"/>
              <a:sym typeface="Calibri"/>
            </a:endParaRPr>
          </a:p>
        </p:txBody>
      </p:sp>
      <p:sp>
        <p:nvSpPr>
          <p:cNvPr id="114" name="Google Shape;114;p5"/>
          <p:cNvSpPr/>
          <p:nvPr/>
        </p:nvSpPr>
        <p:spPr>
          <a:xfrm>
            <a:off x="274320" y="2304288"/>
            <a:ext cx="4160520" cy="1234440"/>
          </a:xfrm>
          <a:prstGeom prst="rect">
            <a:avLst/>
          </a:prstGeom>
          <a:solidFill>
            <a:srgbClr val="FFFFFF"/>
          </a:solidFill>
          <a:ln cap="flat" cmpd="sng" w="9525">
            <a:solidFill>
              <a:srgbClr val="D0D5E0"/>
            </a:solidFill>
            <a:prstDash val="solid"/>
            <a:round/>
            <a:headEnd len="sm" w="sm" type="none"/>
            <a:tailEnd len="sm" w="sm" type="none"/>
          </a:ln>
          <a:effectLst>
            <a:outerShdw blurRad="762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 name="Google Shape;115;p5"/>
          <p:cNvSpPr/>
          <p:nvPr/>
        </p:nvSpPr>
        <p:spPr>
          <a:xfrm>
            <a:off x="274320" y="2304288"/>
            <a:ext cx="347472" cy="1234440"/>
          </a:xfrm>
          <a:prstGeom prst="rect">
            <a:avLst/>
          </a:prstGeom>
          <a:solidFill>
            <a:srgbClr val="1B2F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 name="Google Shape;116;p5"/>
          <p:cNvSpPr/>
          <p:nvPr/>
        </p:nvSpPr>
        <p:spPr>
          <a:xfrm>
            <a:off x="274320" y="2304288"/>
            <a:ext cx="347472" cy="12344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A951"/>
              </a:buClr>
              <a:buSzPts val="1800"/>
              <a:buFont typeface="Cambria"/>
              <a:buNone/>
            </a:pPr>
            <a:r>
              <a:rPr b="1" lang="en-US" sz="1800">
                <a:solidFill>
                  <a:srgbClr val="C8A951"/>
                </a:solidFill>
                <a:latin typeface="Cambria"/>
                <a:ea typeface="Cambria"/>
                <a:cs typeface="Cambria"/>
                <a:sym typeface="Cambria"/>
              </a:rPr>
              <a:t>3</a:t>
            </a:r>
            <a:endParaRPr sz="1800">
              <a:solidFill>
                <a:schemeClr val="dk1"/>
              </a:solidFill>
              <a:latin typeface="Calibri"/>
              <a:ea typeface="Calibri"/>
              <a:cs typeface="Calibri"/>
              <a:sym typeface="Calibri"/>
            </a:endParaRPr>
          </a:p>
        </p:txBody>
      </p:sp>
      <p:sp>
        <p:nvSpPr>
          <p:cNvPr id="117" name="Google Shape;117;p5"/>
          <p:cNvSpPr/>
          <p:nvPr/>
        </p:nvSpPr>
        <p:spPr>
          <a:xfrm>
            <a:off x="731520" y="2377440"/>
            <a:ext cx="3611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F5E"/>
              </a:buClr>
              <a:buSzPts val="1200"/>
              <a:buFont typeface="Cambria"/>
              <a:buNone/>
            </a:pPr>
            <a:r>
              <a:rPr b="1" lang="en-US" sz="1200">
                <a:solidFill>
                  <a:srgbClr val="1B2F5E"/>
                </a:solidFill>
                <a:latin typeface="Cambria"/>
                <a:ea typeface="Cambria"/>
                <a:cs typeface="Cambria"/>
                <a:sym typeface="Cambria"/>
              </a:rPr>
              <a:t>Stage 2 — Hierarchical Decomposition</a:t>
            </a:r>
            <a:endParaRPr sz="1200">
              <a:solidFill>
                <a:schemeClr val="dk1"/>
              </a:solidFill>
              <a:latin typeface="Calibri"/>
              <a:ea typeface="Calibri"/>
              <a:cs typeface="Calibri"/>
              <a:sym typeface="Calibri"/>
            </a:endParaRPr>
          </a:p>
        </p:txBody>
      </p:sp>
      <p:sp>
        <p:nvSpPr>
          <p:cNvPr id="118" name="Google Shape;118;p5"/>
          <p:cNvSpPr/>
          <p:nvPr/>
        </p:nvSpPr>
        <p:spPr>
          <a:xfrm>
            <a:off x="731520" y="2651760"/>
            <a:ext cx="36118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4560"/>
              </a:buClr>
              <a:buSzPts val="1100"/>
              <a:buFont typeface="Calibri"/>
              <a:buNone/>
            </a:pPr>
            <a:r>
              <a:rPr lang="en-US" sz="1100">
                <a:solidFill>
                  <a:srgbClr val="3D4560"/>
                </a:solidFill>
                <a:latin typeface="Calibri"/>
                <a:ea typeface="Calibri"/>
                <a:cs typeface="Calibri"/>
                <a:sym typeface="Calibri"/>
              </a:rPr>
              <a:t>Second BERTopic pass on catch-all cluster (min_cluster_size=15) → 88 sub-topics. Final inventory: 133 topics across both stages.</a:t>
            </a:r>
            <a:endParaRPr sz="1100">
              <a:solidFill>
                <a:schemeClr val="dk1"/>
              </a:solidFill>
              <a:latin typeface="Calibri"/>
              <a:ea typeface="Calibri"/>
              <a:cs typeface="Calibri"/>
              <a:sym typeface="Calibri"/>
            </a:endParaRPr>
          </a:p>
        </p:txBody>
      </p:sp>
      <p:sp>
        <p:nvSpPr>
          <p:cNvPr id="119" name="Google Shape;119;p5"/>
          <p:cNvSpPr/>
          <p:nvPr/>
        </p:nvSpPr>
        <p:spPr>
          <a:xfrm>
            <a:off x="4663440" y="2304288"/>
            <a:ext cx="4160520" cy="1234440"/>
          </a:xfrm>
          <a:prstGeom prst="rect">
            <a:avLst/>
          </a:prstGeom>
          <a:solidFill>
            <a:srgbClr val="FFFFFF"/>
          </a:solidFill>
          <a:ln cap="flat" cmpd="sng" w="9525">
            <a:solidFill>
              <a:srgbClr val="D0D5E0"/>
            </a:solidFill>
            <a:prstDash val="solid"/>
            <a:round/>
            <a:headEnd len="sm" w="sm" type="none"/>
            <a:tailEnd len="sm" w="sm" type="none"/>
          </a:ln>
          <a:effectLst>
            <a:outerShdw blurRad="762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 name="Google Shape;120;p5"/>
          <p:cNvSpPr/>
          <p:nvPr/>
        </p:nvSpPr>
        <p:spPr>
          <a:xfrm>
            <a:off x="4663440" y="2304288"/>
            <a:ext cx="347472" cy="1234440"/>
          </a:xfrm>
          <a:prstGeom prst="rect">
            <a:avLst/>
          </a:prstGeom>
          <a:solidFill>
            <a:srgbClr val="1B2F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 name="Google Shape;121;p5"/>
          <p:cNvSpPr/>
          <p:nvPr/>
        </p:nvSpPr>
        <p:spPr>
          <a:xfrm>
            <a:off x="4663440" y="2304288"/>
            <a:ext cx="347472" cy="12344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A951"/>
              </a:buClr>
              <a:buSzPts val="1800"/>
              <a:buFont typeface="Cambria"/>
              <a:buNone/>
            </a:pPr>
            <a:r>
              <a:rPr b="1" lang="en-US" sz="1800">
                <a:solidFill>
                  <a:srgbClr val="C8A951"/>
                </a:solidFill>
                <a:latin typeface="Cambria"/>
                <a:ea typeface="Cambria"/>
                <a:cs typeface="Cambria"/>
                <a:sym typeface="Cambria"/>
              </a:rPr>
              <a:t>4</a:t>
            </a:r>
            <a:endParaRPr sz="1800">
              <a:solidFill>
                <a:schemeClr val="dk1"/>
              </a:solidFill>
              <a:latin typeface="Calibri"/>
              <a:ea typeface="Calibri"/>
              <a:cs typeface="Calibri"/>
              <a:sym typeface="Calibri"/>
            </a:endParaRPr>
          </a:p>
        </p:txBody>
      </p:sp>
      <p:sp>
        <p:nvSpPr>
          <p:cNvPr id="122" name="Google Shape;122;p5"/>
          <p:cNvSpPr/>
          <p:nvPr/>
        </p:nvSpPr>
        <p:spPr>
          <a:xfrm>
            <a:off x="5120640" y="2377440"/>
            <a:ext cx="3611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F5E"/>
              </a:buClr>
              <a:buSzPts val="1200"/>
              <a:buFont typeface="Cambria"/>
              <a:buNone/>
            </a:pPr>
            <a:r>
              <a:rPr b="1" lang="en-US" sz="1200">
                <a:solidFill>
                  <a:srgbClr val="1B2F5E"/>
                </a:solidFill>
                <a:latin typeface="Cambria"/>
                <a:ea typeface="Cambria"/>
                <a:cs typeface="Cambria"/>
                <a:sym typeface="Cambria"/>
              </a:rPr>
              <a:t>Governance Relevance Scoring</a:t>
            </a:r>
            <a:endParaRPr sz="1200">
              <a:solidFill>
                <a:schemeClr val="dk1"/>
              </a:solidFill>
              <a:latin typeface="Calibri"/>
              <a:ea typeface="Calibri"/>
              <a:cs typeface="Calibri"/>
              <a:sym typeface="Calibri"/>
            </a:endParaRPr>
          </a:p>
        </p:txBody>
      </p:sp>
      <p:sp>
        <p:nvSpPr>
          <p:cNvPr id="123" name="Google Shape;123;p5"/>
          <p:cNvSpPr/>
          <p:nvPr/>
        </p:nvSpPr>
        <p:spPr>
          <a:xfrm>
            <a:off x="5120640" y="2651760"/>
            <a:ext cx="36118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4560"/>
              </a:buClr>
              <a:buSzPts val="1100"/>
              <a:buFont typeface="Calibri"/>
              <a:buNone/>
            </a:pPr>
            <a:r>
              <a:rPr lang="en-US" sz="1100">
                <a:solidFill>
                  <a:srgbClr val="3D4560"/>
                </a:solidFill>
                <a:latin typeface="Calibri"/>
                <a:ea typeface="Calibri"/>
                <a:cs typeface="Calibri"/>
                <a:sym typeface="Calibri"/>
              </a:rPr>
              <a:t>Expert coding on 0–1 scale aligned with OECD AI Principles, EU AI Act risk categories &amp; UNESCO Ethics Recommendation. Topics ≥0.5 → 21 governance topics (3,186 papers, 7.8%).</a:t>
            </a:r>
            <a:endParaRPr sz="1100">
              <a:solidFill>
                <a:schemeClr val="dk1"/>
              </a:solidFill>
              <a:latin typeface="Calibri"/>
              <a:ea typeface="Calibri"/>
              <a:cs typeface="Calibri"/>
              <a:sym typeface="Calibri"/>
            </a:endParaRPr>
          </a:p>
        </p:txBody>
      </p:sp>
      <p:sp>
        <p:nvSpPr>
          <p:cNvPr id="124" name="Google Shape;124;p5"/>
          <p:cNvSpPr/>
          <p:nvPr/>
        </p:nvSpPr>
        <p:spPr>
          <a:xfrm>
            <a:off x="274320" y="3694176"/>
            <a:ext cx="4160520" cy="1234440"/>
          </a:xfrm>
          <a:prstGeom prst="rect">
            <a:avLst/>
          </a:prstGeom>
          <a:solidFill>
            <a:srgbClr val="FFFFFF"/>
          </a:solidFill>
          <a:ln cap="flat" cmpd="sng" w="9525">
            <a:solidFill>
              <a:srgbClr val="D0D5E0"/>
            </a:solidFill>
            <a:prstDash val="solid"/>
            <a:round/>
            <a:headEnd len="sm" w="sm" type="none"/>
            <a:tailEnd len="sm" w="sm" type="none"/>
          </a:ln>
          <a:effectLst>
            <a:outerShdw blurRad="762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 name="Google Shape;125;p5"/>
          <p:cNvSpPr/>
          <p:nvPr/>
        </p:nvSpPr>
        <p:spPr>
          <a:xfrm>
            <a:off x="274320" y="3694176"/>
            <a:ext cx="347472" cy="1234440"/>
          </a:xfrm>
          <a:prstGeom prst="rect">
            <a:avLst/>
          </a:prstGeom>
          <a:solidFill>
            <a:srgbClr val="1B2F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 name="Google Shape;126;p5"/>
          <p:cNvSpPr/>
          <p:nvPr/>
        </p:nvSpPr>
        <p:spPr>
          <a:xfrm>
            <a:off x="274320" y="3694176"/>
            <a:ext cx="347472" cy="12344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A951"/>
              </a:buClr>
              <a:buSzPts val="1800"/>
              <a:buFont typeface="Cambria"/>
              <a:buNone/>
            </a:pPr>
            <a:r>
              <a:rPr b="1" lang="en-US" sz="1800">
                <a:solidFill>
                  <a:srgbClr val="C8A951"/>
                </a:solidFill>
                <a:latin typeface="Cambria"/>
                <a:ea typeface="Cambria"/>
                <a:cs typeface="Cambria"/>
                <a:sym typeface="Cambria"/>
              </a:rPr>
              <a:t>5</a:t>
            </a:r>
            <a:endParaRPr sz="1800">
              <a:solidFill>
                <a:schemeClr val="dk1"/>
              </a:solidFill>
              <a:latin typeface="Calibri"/>
              <a:ea typeface="Calibri"/>
              <a:cs typeface="Calibri"/>
              <a:sym typeface="Calibri"/>
            </a:endParaRPr>
          </a:p>
        </p:txBody>
      </p:sp>
      <p:sp>
        <p:nvSpPr>
          <p:cNvPr id="127" name="Google Shape;127;p5"/>
          <p:cNvSpPr/>
          <p:nvPr/>
        </p:nvSpPr>
        <p:spPr>
          <a:xfrm>
            <a:off x="731520" y="3767328"/>
            <a:ext cx="3611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F5E"/>
              </a:buClr>
              <a:buSzPts val="1200"/>
              <a:buFont typeface="Cambria"/>
              <a:buNone/>
            </a:pPr>
            <a:r>
              <a:rPr b="1" lang="en-US" sz="1200">
                <a:solidFill>
                  <a:srgbClr val="1B2F5E"/>
                </a:solidFill>
                <a:latin typeface="Cambria"/>
                <a:ea typeface="Cambria"/>
                <a:cs typeface="Cambria"/>
                <a:sym typeface="Cambria"/>
              </a:rPr>
              <a:t>Zero-Shot Stance Classification</a:t>
            </a:r>
            <a:endParaRPr sz="1200">
              <a:solidFill>
                <a:schemeClr val="dk1"/>
              </a:solidFill>
              <a:latin typeface="Calibri"/>
              <a:ea typeface="Calibri"/>
              <a:cs typeface="Calibri"/>
              <a:sym typeface="Calibri"/>
            </a:endParaRPr>
          </a:p>
        </p:txBody>
      </p:sp>
      <p:sp>
        <p:nvSpPr>
          <p:cNvPr id="128" name="Google Shape;128;p5"/>
          <p:cNvSpPr/>
          <p:nvPr/>
        </p:nvSpPr>
        <p:spPr>
          <a:xfrm>
            <a:off x="731520" y="4041648"/>
            <a:ext cx="36118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4560"/>
              </a:buClr>
              <a:buSzPts val="1100"/>
              <a:buFont typeface="Calibri"/>
              <a:buNone/>
            </a:pPr>
            <a:r>
              <a:rPr lang="en-US" sz="1100">
                <a:solidFill>
                  <a:srgbClr val="3D4560"/>
                </a:solidFill>
                <a:latin typeface="Calibri"/>
                <a:ea typeface="Calibri"/>
                <a:cs typeface="Calibri"/>
                <a:sym typeface="Calibri"/>
              </a:rPr>
              <a:t>Facebook/Bart-Large-MNLI applied to 3,186 abstracts. Labels: risk-focused, opportunity-focused, balanced. Confidence &lt;0.45 → balanced (conservative).</a:t>
            </a:r>
            <a:endParaRPr sz="1100">
              <a:solidFill>
                <a:schemeClr val="dk1"/>
              </a:solidFill>
              <a:latin typeface="Calibri"/>
              <a:ea typeface="Calibri"/>
              <a:cs typeface="Calibri"/>
              <a:sym typeface="Calibri"/>
            </a:endParaRPr>
          </a:p>
        </p:txBody>
      </p:sp>
      <p:sp>
        <p:nvSpPr>
          <p:cNvPr id="129" name="Google Shape;129;p5"/>
          <p:cNvSpPr/>
          <p:nvPr/>
        </p:nvSpPr>
        <p:spPr>
          <a:xfrm>
            <a:off x="4663440" y="3694176"/>
            <a:ext cx="4160520" cy="1234440"/>
          </a:xfrm>
          <a:prstGeom prst="rect">
            <a:avLst/>
          </a:prstGeom>
          <a:solidFill>
            <a:srgbClr val="FFFFFF"/>
          </a:solidFill>
          <a:ln cap="flat" cmpd="sng" w="9525">
            <a:solidFill>
              <a:srgbClr val="D0D5E0"/>
            </a:solidFill>
            <a:prstDash val="solid"/>
            <a:round/>
            <a:headEnd len="sm" w="sm" type="none"/>
            <a:tailEnd len="sm" w="sm" type="none"/>
          </a:ln>
          <a:effectLst>
            <a:outerShdw blurRad="762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 name="Google Shape;130;p5"/>
          <p:cNvSpPr/>
          <p:nvPr/>
        </p:nvSpPr>
        <p:spPr>
          <a:xfrm>
            <a:off x="4663440" y="3694176"/>
            <a:ext cx="347472" cy="1234440"/>
          </a:xfrm>
          <a:prstGeom prst="rect">
            <a:avLst/>
          </a:prstGeom>
          <a:solidFill>
            <a:srgbClr val="1B2F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 name="Google Shape;131;p5"/>
          <p:cNvSpPr/>
          <p:nvPr/>
        </p:nvSpPr>
        <p:spPr>
          <a:xfrm>
            <a:off x="4663440" y="3694176"/>
            <a:ext cx="347472" cy="12344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A951"/>
              </a:buClr>
              <a:buSzPts val="1800"/>
              <a:buFont typeface="Cambria"/>
              <a:buNone/>
            </a:pPr>
            <a:r>
              <a:rPr b="1" lang="en-US" sz="1800">
                <a:solidFill>
                  <a:srgbClr val="C8A951"/>
                </a:solidFill>
                <a:latin typeface="Cambria"/>
                <a:ea typeface="Cambria"/>
                <a:cs typeface="Cambria"/>
                <a:sym typeface="Cambria"/>
              </a:rPr>
              <a:t>6</a:t>
            </a:r>
            <a:endParaRPr sz="1800">
              <a:solidFill>
                <a:schemeClr val="dk1"/>
              </a:solidFill>
              <a:latin typeface="Calibri"/>
              <a:ea typeface="Calibri"/>
              <a:cs typeface="Calibri"/>
              <a:sym typeface="Calibri"/>
            </a:endParaRPr>
          </a:p>
        </p:txBody>
      </p:sp>
      <p:sp>
        <p:nvSpPr>
          <p:cNvPr id="132" name="Google Shape;132;p5"/>
          <p:cNvSpPr/>
          <p:nvPr/>
        </p:nvSpPr>
        <p:spPr>
          <a:xfrm>
            <a:off x="5120640" y="3767328"/>
            <a:ext cx="3611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F5E"/>
              </a:buClr>
              <a:buSzPts val="1200"/>
              <a:buFont typeface="Cambria"/>
              <a:buNone/>
            </a:pPr>
            <a:r>
              <a:rPr b="1" lang="en-US" sz="1200">
                <a:solidFill>
                  <a:srgbClr val="1B2F5E"/>
                </a:solidFill>
                <a:latin typeface="Cambria"/>
                <a:ea typeface="Cambria"/>
                <a:cs typeface="Cambria"/>
                <a:sym typeface="Cambria"/>
              </a:rPr>
              <a:t>Geographic Attribution &amp; Co-authorship</a:t>
            </a:r>
            <a:endParaRPr sz="1200">
              <a:solidFill>
                <a:schemeClr val="dk1"/>
              </a:solidFill>
              <a:latin typeface="Calibri"/>
              <a:ea typeface="Calibri"/>
              <a:cs typeface="Calibri"/>
              <a:sym typeface="Calibri"/>
            </a:endParaRPr>
          </a:p>
        </p:txBody>
      </p:sp>
      <p:sp>
        <p:nvSpPr>
          <p:cNvPr id="133" name="Google Shape;133;p5"/>
          <p:cNvSpPr/>
          <p:nvPr/>
        </p:nvSpPr>
        <p:spPr>
          <a:xfrm>
            <a:off x="5120640" y="4041648"/>
            <a:ext cx="36118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4560"/>
              </a:buClr>
              <a:buSzPts val="1100"/>
              <a:buFont typeface="Calibri"/>
              <a:buNone/>
            </a:pPr>
            <a:r>
              <a:rPr lang="en-US" sz="1100">
                <a:solidFill>
                  <a:srgbClr val="3D4560"/>
                </a:solidFill>
                <a:latin typeface="Calibri"/>
                <a:ea typeface="Calibri"/>
                <a:cs typeface="Calibri"/>
                <a:sym typeface="Calibri"/>
              </a:rPr>
              <a:t>First-author institution metadata geocoded via OpenStreetMap Nominatim (99.96% coverage). 116,351 institution-pair edges; 2,410 international country-pair edges constructed.</a:t>
            </a:r>
            <a:endParaRPr sz="11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138" name="Shape 138"/>
        <p:cNvGrpSpPr/>
        <p:nvPr/>
      </p:nvGrpSpPr>
      <p:grpSpPr>
        <a:xfrm>
          <a:off x="0" y="0"/>
          <a:ext cx="0" cy="0"/>
          <a:chOff x="0" y="0"/>
          <a:chExt cx="0" cy="0"/>
        </a:xfrm>
      </p:grpSpPr>
      <p:sp>
        <p:nvSpPr>
          <p:cNvPr id="139" name="Google Shape;139;g39a496d8e91_2_53"/>
          <p:cNvSpPr/>
          <p:nvPr/>
        </p:nvSpPr>
        <p:spPr>
          <a:xfrm>
            <a:off x="0" y="0"/>
            <a:ext cx="9144000" cy="685800"/>
          </a:xfrm>
          <a:prstGeom prst="rect">
            <a:avLst/>
          </a:prstGeom>
          <a:solidFill>
            <a:srgbClr val="1B2F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 name="Google Shape;140;g39a496d8e91_2_53"/>
          <p:cNvSpPr/>
          <p:nvPr/>
        </p:nvSpPr>
        <p:spPr>
          <a:xfrm>
            <a:off x="0" y="685800"/>
            <a:ext cx="9144000" cy="54900"/>
          </a:xfrm>
          <a:prstGeom prst="rect">
            <a:avLst/>
          </a:prstGeom>
          <a:solidFill>
            <a:srgbClr val="C8A9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1" name="Google Shape;141;g39a496d8e91_2_53"/>
          <p:cNvSpPr/>
          <p:nvPr/>
        </p:nvSpPr>
        <p:spPr>
          <a:xfrm>
            <a:off x="365760" y="0"/>
            <a:ext cx="84126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mbria"/>
              <a:buNone/>
            </a:pPr>
            <a:r>
              <a:rPr b="1" lang="en-US" sz="2600">
                <a:solidFill>
                  <a:srgbClr val="FFFFFF"/>
                </a:solidFill>
                <a:latin typeface="Cambria"/>
                <a:ea typeface="Cambria"/>
                <a:cs typeface="Cambria"/>
                <a:sym typeface="Cambria"/>
              </a:rPr>
              <a:t>Results: Spatial Distribution</a:t>
            </a:r>
            <a:endParaRPr sz="2600">
              <a:solidFill>
                <a:schemeClr val="dk1"/>
              </a:solidFill>
              <a:latin typeface="Calibri"/>
              <a:ea typeface="Calibri"/>
              <a:cs typeface="Calibri"/>
              <a:sym typeface="Calibri"/>
            </a:endParaRPr>
          </a:p>
        </p:txBody>
      </p:sp>
      <p:sp>
        <p:nvSpPr>
          <p:cNvPr id="142" name="Google Shape;142;g39a496d8e91_2_53"/>
          <p:cNvSpPr/>
          <p:nvPr/>
        </p:nvSpPr>
        <p:spPr>
          <a:xfrm>
            <a:off x="0" y="5001768"/>
            <a:ext cx="9144000" cy="141600"/>
          </a:xfrm>
          <a:prstGeom prst="rect">
            <a:avLst/>
          </a:prstGeom>
          <a:solidFill>
            <a:srgbClr val="1B2F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3" name="Google Shape;143;g39a496d8e91_2_53"/>
          <p:cNvSpPr/>
          <p:nvPr/>
        </p:nvSpPr>
        <p:spPr>
          <a:xfrm>
            <a:off x="274320" y="5001768"/>
            <a:ext cx="8595300" cy="14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A951"/>
              </a:buClr>
              <a:buSzPts val="900"/>
              <a:buFont typeface="Calibri"/>
              <a:buNone/>
            </a:pPr>
            <a:r>
              <a:rPr lang="en-US" sz="900">
                <a:solidFill>
                  <a:srgbClr val="C8A951"/>
                </a:solidFill>
                <a:latin typeface="Calibri"/>
                <a:ea typeface="Calibri"/>
                <a:cs typeface="Calibri"/>
                <a:sym typeface="Calibri"/>
              </a:rPr>
              <a:t>Global AI Governance Narratives  |  Charumbira &amp; Gray  |  GWU CCAS  |  Spring 2026</a:t>
            </a:r>
            <a:endParaRPr sz="900">
              <a:solidFill>
                <a:schemeClr val="dk1"/>
              </a:solidFill>
              <a:latin typeface="Calibri"/>
              <a:ea typeface="Calibri"/>
              <a:cs typeface="Calibri"/>
              <a:sym typeface="Calibri"/>
            </a:endParaRPr>
          </a:p>
        </p:txBody>
      </p:sp>
      <p:sp>
        <p:nvSpPr>
          <p:cNvPr id="144" name="Google Shape;144;g39a496d8e91_2_53"/>
          <p:cNvSpPr/>
          <p:nvPr/>
        </p:nvSpPr>
        <p:spPr>
          <a:xfrm>
            <a:off x="5486224" y="3767325"/>
            <a:ext cx="3383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F5E"/>
              </a:buClr>
              <a:buSzPts val="1200"/>
              <a:buFont typeface="Cambria"/>
              <a:buNone/>
            </a:pPr>
            <a:r>
              <a:t/>
            </a:r>
            <a:endParaRPr sz="1200">
              <a:solidFill>
                <a:schemeClr val="dk1"/>
              </a:solidFill>
              <a:latin typeface="Calibri"/>
              <a:ea typeface="Calibri"/>
              <a:cs typeface="Calibri"/>
              <a:sym typeface="Calibri"/>
            </a:endParaRPr>
          </a:p>
        </p:txBody>
      </p:sp>
      <p:sp>
        <p:nvSpPr>
          <p:cNvPr id="145" name="Google Shape;145;g39a496d8e91_2_53"/>
          <p:cNvSpPr/>
          <p:nvPr/>
        </p:nvSpPr>
        <p:spPr>
          <a:xfrm>
            <a:off x="152390" y="913691"/>
            <a:ext cx="3612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F5E"/>
              </a:buClr>
              <a:buSzPts val="1200"/>
              <a:buFont typeface="Cambria"/>
              <a:buNone/>
            </a:pPr>
            <a:r>
              <a:t/>
            </a:r>
            <a:endParaRPr sz="1200">
              <a:solidFill>
                <a:schemeClr val="dk1"/>
              </a:solidFill>
              <a:latin typeface="Calibri"/>
              <a:ea typeface="Calibri"/>
              <a:cs typeface="Calibri"/>
              <a:sym typeface="Calibri"/>
            </a:endParaRPr>
          </a:p>
        </p:txBody>
      </p:sp>
      <p:pic>
        <p:nvPicPr>
          <p:cNvPr id="146" name="Google Shape;146;g39a496d8e91_2_53"/>
          <p:cNvPicPr preferRelativeResize="0"/>
          <p:nvPr/>
        </p:nvPicPr>
        <p:blipFill>
          <a:blip r:embed="rId3">
            <a:alphaModFix/>
          </a:blip>
          <a:stretch>
            <a:fillRect/>
          </a:stretch>
        </p:blipFill>
        <p:spPr>
          <a:xfrm>
            <a:off x="152400" y="1360902"/>
            <a:ext cx="5181424" cy="3463800"/>
          </a:xfrm>
          <a:prstGeom prst="rect">
            <a:avLst/>
          </a:prstGeom>
          <a:noFill/>
          <a:ln>
            <a:noFill/>
          </a:ln>
        </p:spPr>
      </p:pic>
      <p:pic>
        <p:nvPicPr>
          <p:cNvPr id="147" name="Google Shape;147;g39a496d8e91_2_53"/>
          <p:cNvPicPr preferRelativeResize="0"/>
          <p:nvPr/>
        </p:nvPicPr>
        <p:blipFill>
          <a:blip r:embed="rId4">
            <a:alphaModFix/>
          </a:blip>
          <a:stretch>
            <a:fillRect/>
          </a:stretch>
        </p:blipFill>
        <p:spPr>
          <a:xfrm>
            <a:off x="5486224" y="1221188"/>
            <a:ext cx="3505376" cy="270111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152" name="Shape 152"/>
        <p:cNvGrpSpPr/>
        <p:nvPr/>
      </p:nvGrpSpPr>
      <p:grpSpPr>
        <a:xfrm>
          <a:off x="0" y="0"/>
          <a:ext cx="0" cy="0"/>
          <a:chOff x="0" y="0"/>
          <a:chExt cx="0" cy="0"/>
        </a:xfrm>
      </p:grpSpPr>
      <p:sp>
        <p:nvSpPr>
          <p:cNvPr id="153" name="Google Shape;153;g39a496d8e91_2_9"/>
          <p:cNvSpPr/>
          <p:nvPr/>
        </p:nvSpPr>
        <p:spPr>
          <a:xfrm>
            <a:off x="0" y="0"/>
            <a:ext cx="9144000" cy="685800"/>
          </a:xfrm>
          <a:prstGeom prst="rect">
            <a:avLst/>
          </a:prstGeom>
          <a:solidFill>
            <a:srgbClr val="1B2F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4" name="Google Shape;154;g39a496d8e91_2_9"/>
          <p:cNvSpPr/>
          <p:nvPr/>
        </p:nvSpPr>
        <p:spPr>
          <a:xfrm>
            <a:off x="0" y="685800"/>
            <a:ext cx="9144000" cy="54900"/>
          </a:xfrm>
          <a:prstGeom prst="rect">
            <a:avLst/>
          </a:prstGeom>
          <a:solidFill>
            <a:srgbClr val="C8A9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5" name="Google Shape;155;g39a496d8e91_2_9"/>
          <p:cNvSpPr/>
          <p:nvPr/>
        </p:nvSpPr>
        <p:spPr>
          <a:xfrm>
            <a:off x="365760" y="0"/>
            <a:ext cx="84126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mbria"/>
              <a:buNone/>
            </a:pPr>
            <a:r>
              <a:rPr b="1" lang="en-US" sz="2600">
                <a:solidFill>
                  <a:srgbClr val="FFFFFF"/>
                </a:solidFill>
                <a:latin typeface="Cambria"/>
                <a:ea typeface="Cambria"/>
                <a:cs typeface="Cambria"/>
                <a:sym typeface="Cambria"/>
              </a:rPr>
              <a:t>Results: Emerging Topics &amp; Framing</a:t>
            </a:r>
            <a:endParaRPr sz="2600">
              <a:solidFill>
                <a:schemeClr val="dk1"/>
              </a:solidFill>
              <a:latin typeface="Calibri"/>
              <a:ea typeface="Calibri"/>
              <a:cs typeface="Calibri"/>
              <a:sym typeface="Calibri"/>
            </a:endParaRPr>
          </a:p>
        </p:txBody>
      </p:sp>
      <p:sp>
        <p:nvSpPr>
          <p:cNvPr id="156" name="Google Shape;156;g39a496d8e91_2_9"/>
          <p:cNvSpPr/>
          <p:nvPr/>
        </p:nvSpPr>
        <p:spPr>
          <a:xfrm>
            <a:off x="0" y="5001768"/>
            <a:ext cx="9144000" cy="141600"/>
          </a:xfrm>
          <a:prstGeom prst="rect">
            <a:avLst/>
          </a:prstGeom>
          <a:solidFill>
            <a:srgbClr val="1B2F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7" name="Google Shape;157;g39a496d8e91_2_9"/>
          <p:cNvSpPr/>
          <p:nvPr/>
        </p:nvSpPr>
        <p:spPr>
          <a:xfrm>
            <a:off x="274320" y="5001768"/>
            <a:ext cx="8595300" cy="14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A951"/>
              </a:buClr>
              <a:buSzPts val="900"/>
              <a:buFont typeface="Calibri"/>
              <a:buNone/>
            </a:pPr>
            <a:r>
              <a:rPr lang="en-US" sz="900">
                <a:solidFill>
                  <a:srgbClr val="C8A951"/>
                </a:solidFill>
                <a:latin typeface="Calibri"/>
                <a:ea typeface="Calibri"/>
                <a:cs typeface="Calibri"/>
                <a:sym typeface="Calibri"/>
              </a:rPr>
              <a:t>Global AI Governance Narratives  |  Charumbira &amp; Gray  |  GWU CCAS  |  Spring 2026</a:t>
            </a:r>
            <a:endParaRPr sz="900">
              <a:solidFill>
                <a:schemeClr val="dk1"/>
              </a:solidFill>
              <a:latin typeface="Calibri"/>
              <a:ea typeface="Calibri"/>
              <a:cs typeface="Calibri"/>
              <a:sym typeface="Calibri"/>
            </a:endParaRPr>
          </a:p>
        </p:txBody>
      </p:sp>
      <p:sp>
        <p:nvSpPr>
          <p:cNvPr id="158" name="Google Shape;158;g39a496d8e91_2_9"/>
          <p:cNvSpPr/>
          <p:nvPr/>
        </p:nvSpPr>
        <p:spPr>
          <a:xfrm>
            <a:off x="4663440" y="2304288"/>
            <a:ext cx="347400" cy="1234500"/>
          </a:xfrm>
          <a:prstGeom prst="rect">
            <a:avLst/>
          </a:prstGeom>
          <a:solidFill>
            <a:srgbClr val="1B2F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9" name="Google Shape;159;g39a496d8e91_2_9"/>
          <p:cNvSpPr/>
          <p:nvPr/>
        </p:nvSpPr>
        <p:spPr>
          <a:xfrm>
            <a:off x="4663440" y="2304288"/>
            <a:ext cx="347400" cy="1234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A951"/>
              </a:buClr>
              <a:buSzPts val="1800"/>
              <a:buFont typeface="Cambria"/>
              <a:buNone/>
            </a:pPr>
            <a:r>
              <a:rPr b="1" lang="en-US" sz="1800">
                <a:solidFill>
                  <a:srgbClr val="C8A951"/>
                </a:solidFill>
                <a:latin typeface="Cambria"/>
                <a:ea typeface="Cambria"/>
                <a:cs typeface="Cambria"/>
                <a:sym typeface="Cambria"/>
              </a:rPr>
              <a:t>4</a:t>
            </a:r>
            <a:endParaRPr sz="1800">
              <a:solidFill>
                <a:schemeClr val="dk1"/>
              </a:solidFill>
              <a:latin typeface="Calibri"/>
              <a:ea typeface="Calibri"/>
              <a:cs typeface="Calibri"/>
              <a:sym typeface="Calibri"/>
            </a:endParaRPr>
          </a:p>
        </p:txBody>
      </p:sp>
      <p:sp>
        <p:nvSpPr>
          <p:cNvPr id="160" name="Google Shape;160;g39a496d8e91_2_9"/>
          <p:cNvSpPr/>
          <p:nvPr/>
        </p:nvSpPr>
        <p:spPr>
          <a:xfrm>
            <a:off x="5138875" y="3458325"/>
            <a:ext cx="4005000" cy="1543500"/>
          </a:xfrm>
          <a:prstGeom prst="rect">
            <a:avLst/>
          </a:prstGeom>
          <a:solidFill>
            <a:srgbClr val="FFFFFF"/>
          </a:solidFill>
          <a:ln cap="flat" cmpd="sng" w="9525">
            <a:solidFill>
              <a:srgbClr val="D0D5E0"/>
            </a:solidFill>
            <a:prstDash val="solid"/>
            <a:round/>
            <a:headEnd len="sm" w="sm" type="none"/>
            <a:tailEnd len="sm" w="sm" type="none"/>
          </a:ln>
          <a:effectLst>
            <a:outerShdw blurRad="76200" rotWithShape="0" algn="bl" dir="8100000" dist="38100">
              <a:srgbClr val="000000">
                <a:alpha val="12160"/>
              </a:srgbClr>
            </a:outerShdw>
          </a:effectLst>
        </p:spPr>
        <p:txBody>
          <a:bodyPr anchorCtr="0" anchor="t" bIns="45700" lIns="91425" spcFirstLastPara="1" rIns="91425" wrap="square" tIns="45700">
            <a:noAutofit/>
          </a:bodyPr>
          <a:lstStyle/>
          <a:p>
            <a:pPr indent="0" lvl="0" marL="0" marR="381000" rtl="0" algn="just">
              <a:spcBef>
                <a:spcPts val="0"/>
              </a:spcBef>
              <a:spcAft>
                <a:spcPts val="0"/>
              </a:spcAft>
              <a:buClr>
                <a:schemeClr val="dk1"/>
              </a:buClr>
              <a:buSzPts val="1100"/>
              <a:buFont typeface="Arial"/>
              <a:buNone/>
            </a:pPr>
            <a:r>
              <a:rPr lang="en-US" sz="1100">
                <a:solidFill>
                  <a:srgbClr val="3D4560"/>
                </a:solidFill>
                <a:latin typeface="Calibri"/>
                <a:ea typeface="Calibri"/>
                <a:cs typeface="Calibri"/>
                <a:sym typeface="Calibri"/>
              </a:rPr>
              <a:t>Autonomous Weapons is the most risk-dominated topic (72.9% risk). AI Accessibility is the most opportunity-framed (78.8%). Topics cluster into distinct risk and opportunity zones governance framing is not uniform.</a:t>
            </a:r>
            <a:endParaRPr sz="1100">
              <a:solidFill>
                <a:srgbClr val="3D4560"/>
              </a:solidFill>
              <a:latin typeface="Calibri"/>
              <a:ea typeface="Calibri"/>
              <a:cs typeface="Calibri"/>
              <a:sym typeface="Calibri"/>
            </a:endParaRPr>
          </a:p>
          <a:p>
            <a:pPr indent="0" lvl="0" marL="381000" marR="381000" rtl="0" algn="just">
              <a:spcBef>
                <a:spcPts val="0"/>
              </a:spcBef>
              <a:spcAft>
                <a:spcPts val="0"/>
              </a:spcAft>
              <a:buClr>
                <a:schemeClr val="dk1"/>
              </a:buClr>
              <a:buSzPts val="1100"/>
              <a:buFont typeface="Arial"/>
              <a:buNone/>
            </a:pPr>
            <a:r>
              <a:t/>
            </a:r>
            <a:endParaRPr sz="1100">
              <a:solidFill>
                <a:srgbClr val="3D4560"/>
              </a:solidFill>
              <a:latin typeface="Calibri"/>
              <a:ea typeface="Calibri"/>
              <a:cs typeface="Calibri"/>
              <a:sym typeface="Calibri"/>
            </a:endParaRPr>
          </a:p>
          <a:p>
            <a:pPr indent="0" lvl="0" marL="0" marR="381000" rtl="0" algn="just">
              <a:spcBef>
                <a:spcPts val="0"/>
              </a:spcBef>
              <a:spcAft>
                <a:spcPts val="0"/>
              </a:spcAft>
              <a:buClr>
                <a:schemeClr val="dk1"/>
              </a:buClr>
              <a:buSzPts val="1100"/>
              <a:buFont typeface="Arial"/>
              <a:buNone/>
            </a:pPr>
            <a:r>
              <a:rPr lang="en-US" sz="1100">
                <a:solidFill>
                  <a:srgbClr val="3D4560"/>
                </a:solidFill>
                <a:latin typeface="Calibri"/>
                <a:ea typeface="Calibri"/>
                <a:cs typeface="Calibri"/>
                <a:sym typeface="Calibri"/>
              </a:rPr>
              <a:t>Four of five regions are opportunity-dominant. North America is the only balanced-dominant region. Africa &amp; Middle East frames governance most optimistically (45%) despite its cybersecurity focus.</a:t>
            </a:r>
            <a:endParaRPr sz="1100">
              <a:solidFill>
                <a:srgbClr val="3D4560"/>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1" name="Google Shape;161;g39a496d8e91_2_9"/>
          <p:cNvSpPr/>
          <p:nvPr/>
        </p:nvSpPr>
        <p:spPr>
          <a:xfrm>
            <a:off x="4663440" y="3694176"/>
            <a:ext cx="347400" cy="1234500"/>
          </a:xfrm>
          <a:prstGeom prst="rect">
            <a:avLst/>
          </a:prstGeom>
          <a:solidFill>
            <a:srgbClr val="1B2F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2" name="Google Shape;162;g39a496d8e91_2_9"/>
          <p:cNvSpPr/>
          <p:nvPr/>
        </p:nvSpPr>
        <p:spPr>
          <a:xfrm>
            <a:off x="4663440" y="3694176"/>
            <a:ext cx="347400" cy="1234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A951"/>
              </a:buClr>
              <a:buSzPts val="1800"/>
              <a:buFont typeface="Cambria"/>
              <a:buNone/>
            </a:pPr>
            <a:r>
              <a:rPr b="1" lang="en-US" sz="1800">
                <a:solidFill>
                  <a:srgbClr val="C8A951"/>
                </a:solidFill>
                <a:latin typeface="Cambria"/>
                <a:ea typeface="Cambria"/>
                <a:cs typeface="Cambria"/>
                <a:sym typeface="Cambria"/>
              </a:rPr>
              <a:t>6</a:t>
            </a:r>
            <a:endParaRPr sz="1800">
              <a:solidFill>
                <a:schemeClr val="dk1"/>
              </a:solidFill>
              <a:latin typeface="Calibri"/>
              <a:ea typeface="Calibri"/>
              <a:cs typeface="Calibri"/>
              <a:sym typeface="Calibri"/>
            </a:endParaRPr>
          </a:p>
        </p:txBody>
      </p:sp>
      <p:pic>
        <p:nvPicPr>
          <p:cNvPr id="163" name="Google Shape;163;g39a496d8e91_2_9" title="2. governance_risk_vs_opportunity_framing.png"/>
          <p:cNvPicPr preferRelativeResize="0"/>
          <p:nvPr/>
        </p:nvPicPr>
        <p:blipFill>
          <a:blip r:embed="rId3">
            <a:alphaModFix/>
          </a:blip>
          <a:stretch>
            <a:fillRect/>
          </a:stretch>
        </p:blipFill>
        <p:spPr>
          <a:xfrm>
            <a:off x="0" y="1402073"/>
            <a:ext cx="5014684" cy="3599701"/>
          </a:xfrm>
          <a:prstGeom prst="rect">
            <a:avLst/>
          </a:prstGeom>
          <a:noFill/>
          <a:ln>
            <a:noFill/>
          </a:ln>
        </p:spPr>
      </p:pic>
      <p:pic>
        <p:nvPicPr>
          <p:cNvPr id="164" name="Google Shape;164;g39a496d8e91_2_9" title="15. governance_stance_by_world_region.png"/>
          <p:cNvPicPr preferRelativeResize="0"/>
          <p:nvPr/>
        </p:nvPicPr>
        <p:blipFill>
          <a:blip r:embed="rId4">
            <a:alphaModFix/>
          </a:blip>
          <a:stretch>
            <a:fillRect/>
          </a:stretch>
        </p:blipFill>
        <p:spPr>
          <a:xfrm>
            <a:off x="5486300" y="992088"/>
            <a:ext cx="3337550" cy="2395801"/>
          </a:xfrm>
          <a:prstGeom prst="rect">
            <a:avLst/>
          </a:prstGeom>
          <a:noFill/>
          <a:ln>
            <a:noFill/>
          </a:ln>
        </p:spPr>
      </p:pic>
      <p:sp>
        <p:nvSpPr>
          <p:cNvPr id="165" name="Google Shape;165;g39a496d8e91_2_9"/>
          <p:cNvSpPr/>
          <p:nvPr/>
        </p:nvSpPr>
        <p:spPr>
          <a:xfrm>
            <a:off x="194240" y="934291"/>
            <a:ext cx="3612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F5E"/>
              </a:buClr>
              <a:buSzPts val="1200"/>
              <a:buFont typeface="Cambria"/>
              <a:buNone/>
            </a:pPr>
            <a:r>
              <a:t/>
            </a:r>
            <a:endParaRPr sz="12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170" name="Shape 170"/>
        <p:cNvGrpSpPr/>
        <p:nvPr/>
      </p:nvGrpSpPr>
      <p:grpSpPr>
        <a:xfrm>
          <a:off x="0" y="0"/>
          <a:ext cx="0" cy="0"/>
          <a:chOff x="0" y="0"/>
          <a:chExt cx="0" cy="0"/>
        </a:xfrm>
      </p:grpSpPr>
      <p:sp>
        <p:nvSpPr>
          <p:cNvPr id="171" name="Google Shape;171;p6"/>
          <p:cNvSpPr/>
          <p:nvPr/>
        </p:nvSpPr>
        <p:spPr>
          <a:xfrm>
            <a:off x="0" y="0"/>
            <a:ext cx="9144000" cy="685800"/>
          </a:xfrm>
          <a:prstGeom prst="rect">
            <a:avLst/>
          </a:prstGeom>
          <a:solidFill>
            <a:srgbClr val="1B2F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2" name="Google Shape;172;p6"/>
          <p:cNvSpPr/>
          <p:nvPr/>
        </p:nvSpPr>
        <p:spPr>
          <a:xfrm>
            <a:off x="0" y="685800"/>
            <a:ext cx="9144000" cy="54864"/>
          </a:xfrm>
          <a:prstGeom prst="rect">
            <a:avLst/>
          </a:prstGeom>
          <a:solidFill>
            <a:srgbClr val="C8A9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3" name="Google Shape;173;p6"/>
          <p:cNvSpPr/>
          <p:nvPr/>
        </p:nvSpPr>
        <p:spPr>
          <a:xfrm>
            <a:off x="365760" y="0"/>
            <a:ext cx="841248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mbria"/>
              <a:buNone/>
            </a:pPr>
            <a:r>
              <a:rPr b="1" lang="en-US" sz="2600">
                <a:solidFill>
                  <a:srgbClr val="FFFFFF"/>
                </a:solidFill>
                <a:latin typeface="Cambria"/>
                <a:ea typeface="Cambria"/>
                <a:cs typeface="Cambria"/>
                <a:sym typeface="Cambria"/>
              </a:rPr>
              <a:t>Results: Temporal Analysis</a:t>
            </a:r>
            <a:endParaRPr sz="2600">
              <a:solidFill>
                <a:schemeClr val="dk1"/>
              </a:solidFill>
              <a:latin typeface="Calibri"/>
              <a:ea typeface="Calibri"/>
              <a:cs typeface="Calibri"/>
              <a:sym typeface="Calibri"/>
            </a:endParaRPr>
          </a:p>
        </p:txBody>
      </p:sp>
      <p:sp>
        <p:nvSpPr>
          <p:cNvPr id="174" name="Google Shape;174;p6"/>
          <p:cNvSpPr/>
          <p:nvPr/>
        </p:nvSpPr>
        <p:spPr>
          <a:xfrm>
            <a:off x="0" y="5001768"/>
            <a:ext cx="9144000" cy="141732"/>
          </a:xfrm>
          <a:prstGeom prst="rect">
            <a:avLst/>
          </a:prstGeom>
          <a:solidFill>
            <a:srgbClr val="1B2F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5" name="Google Shape;175;p6"/>
          <p:cNvSpPr/>
          <p:nvPr/>
        </p:nvSpPr>
        <p:spPr>
          <a:xfrm>
            <a:off x="274320" y="5001768"/>
            <a:ext cx="8595360" cy="1417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A951"/>
              </a:buClr>
              <a:buSzPts val="900"/>
              <a:buFont typeface="Calibri"/>
              <a:buNone/>
            </a:pPr>
            <a:r>
              <a:rPr lang="en-US" sz="900">
                <a:solidFill>
                  <a:srgbClr val="C8A951"/>
                </a:solidFill>
                <a:latin typeface="Calibri"/>
                <a:ea typeface="Calibri"/>
                <a:cs typeface="Calibri"/>
                <a:sym typeface="Calibri"/>
              </a:rPr>
              <a:t>Global AI Governance Narratives  |  Charumbira &amp; Gray  |  GWU CCAS  |  Spring 2026</a:t>
            </a:r>
            <a:endParaRPr sz="900">
              <a:solidFill>
                <a:schemeClr val="dk1"/>
              </a:solidFill>
              <a:latin typeface="Calibri"/>
              <a:ea typeface="Calibri"/>
              <a:cs typeface="Calibri"/>
              <a:sym typeface="Calibri"/>
            </a:endParaRPr>
          </a:p>
        </p:txBody>
      </p:sp>
      <p:graphicFrame>
        <p:nvGraphicFramePr>
          <p:cNvPr id="176" name="Google Shape;176;p6"/>
          <p:cNvGraphicFramePr/>
          <p:nvPr/>
        </p:nvGraphicFramePr>
        <p:xfrm>
          <a:off x="274320" y="914400"/>
          <a:ext cx="4389120" cy="3749040"/>
        </p:xfrm>
        <a:graphic>
          <a:graphicData uri="http://schemas.openxmlformats.org/drawingml/2006/chart">
            <c:chart r:id="rId3"/>
          </a:graphicData>
        </a:graphic>
      </p:graphicFrame>
      <p:sp>
        <p:nvSpPr>
          <p:cNvPr id="177" name="Google Shape;177;p6"/>
          <p:cNvSpPr/>
          <p:nvPr/>
        </p:nvSpPr>
        <p:spPr>
          <a:xfrm>
            <a:off x="4937760" y="914400"/>
            <a:ext cx="3931920" cy="1325880"/>
          </a:xfrm>
          <a:prstGeom prst="rect">
            <a:avLst/>
          </a:prstGeom>
          <a:solidFill>
            <a:srgbClr val="FFFFFF"/>
          </a:solidFill>
          <a:ln cap="flat" cmpd="sng" w="9525">
            <a:solidFill>
              <a:srgbClr val="D0D5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8" name="Google Shape;178;p6"/>
          <p:cNvSpPr/>
          <p:nvPr/>
        </p:nvSpPr>
        <p:spPr>
          <a:xfrm>
            <a:off x="5166360" y="100584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F5E"/>
              </a:buClr>
              <a:buSzPts val="1400"/>
              <a:buFont typeface="Cambria"/>
              <a:buNone/>
            </a:pPr>
            <a:r>
              <a:rPr b="1" lang="en-US" sz="1400">
                <a:solidFill>
                  <a:srgbClr val="1B2F5E"/>
                </a:solidFill>
                <a:latin typeface="Cambria"/>
                <a:ea typeface="Cambria"/>
                <a:cs typeface="Cambria"/>
                <a:sym typeface="Cambria"/>
              </a:rPr>
              <a:t>The ChatGPT Paradox</a:t>
            </a:r>
            <a:endParaRPr sz="1400">
              <a:solidFill>
                <a:schemeClr val="dk1"/>
              </a:solidFill>
              <a:latin typeface="Calibri"/>
              <a:ea typeface="Calibri"/>
              <a:cs typeface="Calibri"/>
              <a:sym typeface="Calibri"/>
            </a:endParaRPr>
          </a:p>
        </p:txBody>
      </p:sp>
      <p:sp>
        <p:nvSpPr>
          <p:cNvPr id="179" name="Google Shape;179;p6"/>
          <p:cNvSpPr/>
          <p:nvPr/>
        </p:nvSpPr>
        <p:spPr>
          <a:xfrm>
            <a:off x="5166360" y="1298448"/>
            <a:ext cx="34747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4560"/>
              </a:buClr>
              <a:buSzPts val="1100"/>
              <a:buFont typeface="Calibri"/>
              <a:buNone/>
            </a:pPr>
            <a:r>
              <a:rPr lang="en-US" sz="1100">
                <a:solidFill>
                  <a:srgbClr val="3D4560"/>
                </a:solidFill>
                <a:latin typeface="Calibri"/>
                <a:ea typeface="Calibri"/>
                <a:cs typeface="Calibri"/>
                <a:sym typeface="Calibri"/>
              </a:rPr>
              <a:t>Governance volume surged post-ChatGPT, yet framing shifted toward opportunity — suggesting scholars reoriented toward institutional design rather than problem identification.</a:t>
            </a:r>
            <a:endParaRPr sz="1100">
              <a:solidFill>
                <a:schemeClr val="dk1"/>
              </a:solidFill>
              <a:latin typeface="Calibri"/>
              <a:ea typeface="Calibri"/>
              <a:cs typeface="Calibri"/>
              <a:sym typeface="Calibri"/>
            </a:endParaRPr>
          </a:p>
        </p:txBody>
      </p:sp>
      <p:sp>
        <p:nvSpPr>
          <p:cNvPr id="180" name="Google Shape;180;p6"/>
          <p:cNvSpPr/>
          <p:nvPr/>
        </p:nvSpPr>
        <p:spPr>
          <a:xfrm>
            <a:off x="4937760" y="2377440"/>
            <a:ext cx="3931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F5E"/>
              </a:buClr>
              <a:buSzPts val="1200"/>
              <a:buFont typeface="Cambria"/>
              <a:buNone/>
            </a:pPr>
            <a:r>
              <a:rPr b="1" lang="en-US" sz="1200">
                <a:solidFill>
                  <a:srgbClr val="1B2F5E"/>
                </a:solidFill>
                <a:latin typeface="Cambria"/>
                <a:ea typeface="Cambria"/>
                <a:cs typeface="Cambria"/>
                <a:sym typeface="Cambria"/>
              </a:rPr>
              <a:t>Highest Absolute Growth by Topic (Pre→Post ChatGPT)</a:t>
            </a:r>
            <a:endParaRPr sz="1200">
              <a:solidFill>
                <a:schemeClr val="dk1"/>
              </a:solidFill>
              <a:latin typeface="Calibri"/>
              <a:ea typeface="Calibri"/>
              <a:cs typeface="Calibri"/>
              <a:sym typeface="Calibri"/>
            </a:endParaRPr>
          </a:p>
        </p:txBody>
      </p:sp>
      <p:sp>
        <p:nvSpPr>
          <p:cNvPr id="181" name="Google Shape;181;p6"/>
          <p:cNvSpPr/>
          <p:nvPr/>
        </p:nvSpPr>
        <p:spPr>
          <a:xfrm>
            <a:off x="4937760" y="2697480"/>
            <a:ext cx="3931920" cy="438912"/>
          </a:xfrm>
          <a:prstGeom prst="rect">
            <a:avLst/>
          </a:prstGeom>
          <a:solidFill>
            <a:srgbClr val="FFFFFF"/>
          </a:solidFill>
          <a:ln cap="flat" cmpd="sng" w="9525">
            <a:solidFill>
              <a:srgbClr val="D0D5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 name="Google Shape;182;p6"/>
          <p:cNvSpPr/>
          <p:nvPr/>
        </p:nvSpPr>
        <p:spPr>
          <a:xfrm>
            <a:off x="4937760" y="2697480"/>
            <a:ext cx="914400" cy="438912"/>
          </a:xfrm>
          <a:prstGeom prst="rect">
            <a:avLst/>
          </a:prstGeom>
          <a:solidFill>
            <a:srgbClr val="1B2F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 name="Google Shape;183;p6"/>
          <p:cNvSpPr/>
          <p:nvPr/>
        </p:nvSpPr>
        <p:spPr>
          <a:xfrm>
            <a:off x="4937760" y="2697480"/>
            <a:ext cx="91440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A951"/>
              </a:buClr>
              <a:buSzPts val="1400"/>
              <a:buFont typeface="Cambria"/>
              <a:buNone/>
            </a:pPr>
            <a:r>
              <a:rPr b="1" lang="en-US" sz="1400">
                <a:solidFill>
                  <a:srgbClr val="C8A951"/>
                </a:solidFill>
                <a:latin typeface="Cambria"/>
                <a:ea typeface="Cambria"/>
                <a:cs typeface="Cambria"/>
                <a:sym typeface="Cambria"/>
              </a:rPr>
              <a:t>+706%</a:t>
            </a:r>
            <a:endParaRPr sz="1400">
              <a:solidFill>
                <a:schemeClr val="dk1"/>
              </a:solidFill>
              <a:latin typeface="Calibri"/>
              <a:ea typeface="Calibri"/>
              <a:cs typeface="Calibri"/>
              <a:sym typeface="Calibri"/>
            </a:endParaRPr>
          </a:p>
        </p:txBody>
      </p:sp>
      <p:sp>
        <p:nvSpPr>
          <p:cNvPr id="184" name="Google Shape;184;p6"/>
          <p:cNvSpPr/>
          <p:nvPr/>
        </p:nvSpPr>
        <p:spPr>
          <a:xfrm>
            <a:off x="5961888" y="2770632"/>
            <a:ext cx="28346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4560"/>
              </a:buClr>
              <a:buSzPts val="1200"/>
              <a:buFont typeface="Calibri"/>
              <a:buNone/>
            </a:pPr>
            <a:r>
              <a:rPr lang="en-US" sz="1200">
                <a:solidFill>
                  <a:srgbClr val="3D4560"/>
                </a:solidFill>
                <a:latin typeface="Calibri"/>
                <a:ea typeface="Calibri"/>
                <a:cs typeface="Calibri"/>
                <a:sym typeface="Calibri"/>
              </a:rPr>
              <a:t>AI &amp; Journalism / Media</a:t>
            </a:r>
            <a:endParaRPr sz="1200">
              <a:solidFill>
                <a:schemeClr val="dk1"/>
              </a:solidFill>
              <a:latin typeface="Calibri"/>
              <a:ea typeface="Calibri"/>
              <a:cs typeface="Calibri"/>
              <a:sym typeface="Calibri"/>
            </a:endParaRPr>
          </a:p>
        </p:txBody>
      </p:sp>
      <p:sp>
        <p:nvSpPr>
          <p:cNvPr id="185" name="Google Shape;185;p6"/>
          <p:cNvSpPr/>
          <p:nvPr/>
        </p:nvSpPr>
        <p:spPr>
          <a:xfrm>
            <a:off x="4937760" y="3209544"/>
            <a:ext cx="3931920" cy="438912"/>
          </a:xfrm>
          <a:prstGeom prst="rect">
            <a:avLst/>
          </a:prstGeom>
          <a:solidFill>
            <a:srgbClr val="FFFFFF"/>
          </a:solidFill>
          <a:ln cap="flat" cmpd="sng" w="9525">
            <a:solidFill>
              <a:srgbClr val="D0D5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 name="Google Shape;186;p6"/>
          <p:cNvSpPr/>
          <p:nvPr/>
        </p:nvSpPr>
        <p:spPr>
          <a:xfrm>
            <a:off x="4937760" y="3209544"/>
            <a:ext cx="914400" cy="438912"/>
          </a:xfrm>
          <a:prstGeom prst="rect">
            <a:avLst/>
          </a:prstGeom>
          <a:solidFill>
            <a:srgbClr val="1B2F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7" name="Google Shape;187;p6"/>
          <p:cNvSpPr/>
          <p:nvPr/>
        </p:nvSpPr>
        <p:spPr>
          <a:xfrm>
            <a:off x="4937760" y="3209544"/>
            <a:ext cx="91440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A951"/>
              </a:buClr>
              <a:buSzPts val="1400"/>
              <a:buFont typeface="Cambria"/>
              <a:buNone/>
            </a:pPr>
            <a:r>
              <a:rPr b="1" lang="en-US" sz="1400">
                <a:solidFill>
                  <a:srgbClr val="C8A951"/>
                </a:solidFill>
                <a:latin typeface="Cambria"/>
                <a:ea typeface="Cambria"/>
                <a:cs typeface="Cambria"/>
                <a:sym typeface="Cambria"/>
              </a:rPr>
              <a:t>+617%</a:t>
            </a:r>
            <a:endParaRPr sz="1400">
              <a:solidFill>
                <a:schemeClr val="dk1"/>
              </a:solidFill>
              <a:latin typeface="Calibri"/>
              <a:ea typeface="Calibri"/>
              <a:cs typeface="Calibri"/>
              <a:sym typeface="Calibri"/>
            </a:endParaRPr>
          </a:p>
        </p:txBody>
      </p:sp>
      <p:sp>
        <p:nvSpPr>
          <p:cNvPr id="188" name="Google Shape;188;p6"/>
          <p:cNvSpPr/>
          <p:nvPr/>
        </p:nvSpPr>
        <p:spPr>
          <a:xfrm>
            <a:off x="5961888" y="3282696"/>
            <a:ext cx="28346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4560"/>
              </a:buClr>
              <a:buSzPts val="1200"/>
              <a:buFont typeface="Calibri"/>
              <a:buNone/>
            </a:pPr>
            <a:r>
              <a:rPr lang="en-US" sz="1200">
                <a:solidFill>
                  <a:srgbClr val="3D4560"/>
                </a:solidFill>
                <a:latin typeface="Calibri"/>
                <a:ea typeface="Calibri"/>
                <a:cs typeface="Calibri"/>
                <a:sym typeface="Calibri"/>
              </a:rPr>
              <a:t>Trust &amp; Trustworthiness in AI</a:t>
            </a:r>
            <a:endParaRPr sz="1200">
              <a:solidFill>
                <a:schemeClr val="dk1"/>
              </a:solidFill>
              <a:latin typeface="Calibri"/>
              <a:ea typeface="Calibri"/>
              <a:cs typeface="Calibri"/>
              <a:sym typeface="Calibri"/>
            </a:endParaRPr>
          </a:p>
        </p:txBody>
      </p:sp>
      <p:sp>
        <p:nvSpPr>
          <p:cNvPr id="189" name="Google Shape;189;p6"/>
          <p:cNvSpPr/>
          <p:nvPr/>
        </p:nvSpPr>
        <p:spPr>
          <a:xfrm>
            <a:off x="4937760" y="3721608"/>
            <a:ext cx="3931920" cy="438912"/>
          </a:xfrm>
          <a:prstGeom prst="rect">
            <a:avLst/>
          </a:prstGeom>
          <a:solidFill>
            <a:srgbClr val="FFFFFF"/>
          </a:solidFill>
          <a:ln cap="flat" cmpd="sng" w="9525">
            <a:solidFill>
              <a:srgbClr val="D0D5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 name="Google Shape;190;p6"/>
          <p:cNvSpPr/>
          <p:nvPr/>
        </p:nvSpPr>
        <p:spPr>
          <a:xfrm>
            <a:off x="4937760" y="3721608"/>
            <a:ext cx="914400" cy="438912"/>
          </a:xfrm>
          <a:prstGeom prst="rect">
            <a:avLst/>
          </a:prstGeom>
          <a:solidFill>
            <a:srgbClr val="1B2F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 name="Google Shape;191;p6"/>
          <p:cNvSpPr/>
          <p:nvPr/>
        </p:nvSpPr>
        <p:spPr>
          <a:xfrm>
            <a:off x="4937760" y="3721608"/>
            <a:ext cx="91440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A951"/>
              </a:buClr>
              <a:buSzPts val="1400"/>
              <a:buFont typeface="Cambria"/>
              <a:buNone/>
            </a:pPr>
            <a:r>
              <a:rPr b="1" lang="en-US" sz="1400">
                <a:solidFill>
                  <a:srgbClr val="C8A951"/>
                </a:solidFill>
                <a:latin typeface="Cambria"/>
                <a:ea typeface="Cambria"/>
                <a:cs typeface="Cambria"/>
                <a:sym typeface="Cambria"/>
              </a:rPr>
              <a:t>+367%</a:t>
            </a:r>
            <a:endParaRPr sz="1400">
              <a:solidFill>
                <a:schemeClr val="dk1"/>
              </a:solidFill>
              <a:latin typeface="Calibri"/>
              <a:ea typeface="Calibri"/>
              <a:cs typeface="Calibri"/>
              <a:sym typeface="Calibri"/>
            </a:endParaRPr>
          </a:p>
        </p:txBody>
      </p:sp>
      <p:sp>
        <p:nvSpPr>
          <p:cNvPr id="192" name="Google Shape;192;p6"/>
          <p:cNvSpPr/>
          <p:nvPr/>
        </p:nvSpPr>
        <p:spPr>
          <a:xfrm>
            <a:off x="5961888" y="3794760"/>
            <a:ext cx="28346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4560"/>
              </a:buClr>
              <a:buSzPts val="1200"/>
              <a:buFont typeface="Calibri"/>
              <a:buNone/>
            </a:pPr>
            <a:r>
              <a:rPr lang="en-US" sz="1200">
                <a:solidFill>
                  <a:srgbClr val="3D4560"/>
                </a:solidFill>
                <a:latin typeface="Calibri"/>
                <a:ea typeface="Calibri"/>
                <a:cs typeface="Calibri"/>
                <a:sym typeface="Calibri"/>
              </a:rPr>
              <a:t>Gender Bias &amp; AI Representation</a:t>
            </a:r>
            <a:endParaRPr sz="1200">
              <a:solidFill>
                <a:schemeClr val="dk1"/>
              </a:solidFill>
              <a:latin typeface="Calibri"/>
              <a:ea typeface="Calibri"/>
              <a:cs typeface="Calibri"/>
              <a:sym typeface="Calibri"/>
            </a:endParaRPr>
          </a:p>
        </p:txBody>
      </p:sp>
      <p:sp>
        <p:nvSpPr>
          <p:cNvPr id="193" name="Google Shape;193;p6"/>
          <p:cNvSpPr/>
          <p:nvPr/>
        </p:nvSpPr>
        <p:spPr>
          <a:xfrm>
            <a:off x="4937760" y="4233672"/>
            <a:ext cx="3931920" cy="438912"/>
          </a:xfrm>
          <a:prstGeom prst="rect">
            <a:avLst/>
          </a:prstGeom>
          <a:solidFill>
            <a:srgbClr val="FFFFFF"/>
          </a:solidFill>
          <a:ln cap="flat" cmpd="sng" w="9525">
            <a:solidFill>
              <a:srgbClr val="D0D5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 name="Google Shape;194;p6"/>
          <p:cNvSpPr/>
          <p:nvPr/>
        </p:nvSpPr>
        <p:spPr>
          <a:xfrm>
            <a:off x="4937760" y="4233672"/>
            <a:ext cx="914400" cy="438912"/>
          </a:xfrm>
          <a:prstGeom prst="rect">
            <a:avLst/>
          </a:prstGeom>
          <a:solidFill>
            <a:srgbClr val="1B2F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 name="Google Shape;195;p6"/>
          <p:cNvSpPr/>
          <p:nvPr/>
        </p:nvSpPr>
        <p:spPr>
          <a:xfrm>
            <a:off x="4937760" y="4233672"/>
            <a:ext cx="91440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A951"/>
              </a:buClr>
              <a:buSzPts val="1400"/>
              <a:buFont typeface="Cambria"/>
              <a:buNone/>
            </a:pPr>
            <a:r>
              <a:rPr b="1" lang="en-US" sz="1400">
                <a:solidFill>
                  <a:srgbClr val="C8A951"/>
                </a:solidFill>
                <a:latin typeface="Cambria"/>
                <a:ea typeface="Cambria"/>
                <a:cs typeface="Cambria"/>
                <a:sym typeface="Cambria"/>
              </a:rPr>
              <a:t>+354%</a:t>
            </a:r>
            <a:endParaRPr sz="1400">
              <a:solidFill>
                <a:schemeClr val="dk1"/>
              </a:solidFill>
              <a:latin typeface="Calibri"/>
              <a:ea typeface="Calibri"/>
              <a:cs typeface="Calibri"/>
              <a:sym typeface="Calibri"/>
            </a:endParaRPr>
          </a:p>
        </p:txBody>
      </p:sp>
      <p:sp>
        <p:nvSpPr>
          <p:cNvPr id="196" name="Google Shape;196;p6"/>
          <p:cNvSpPr/>
          <p:nvPr/>
        </p:nvSpPr>
        <p:spPr>
          <a:xfrm>
            <a:off x="5961888" y="4306824"/>
            <a:ext cx="28346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4560"/>
              </a:buClr>
              <a:buSzPts val="1200"/>
              <a:buFont typeface="Calibri"/>
              <a:buNone/>
            </a:pPr>
            <a:r>
              <a:rPr lang="en-US" sz="1200">
                <a:solidFill>
                  <a:srgbClr val="3D4560"/>
                </a:solidFill>
                <a:latin typeface="Calibri"/>
                <a:ea typeface="Calibri"/>
                <a:cs typeface="Calibri"/>
                <a:sym typeface="Calibri"/>
              </a:rPr>
              <a:t>Algorithmic Fairness &amp; Bias</a:t>
            </a:r>
            <a:endParaRPr sz="1200">
              <a:solidFill>
                <a:schemeClr val="dk1"/>
              </a:solidFill>
              <a:latin typeface="Calibri"/>
              <a:ea typeface="Calibri"/>
              <a:cs typeface="Calibri"/>
              <a:sym typeface="Calibri"/>
            </a:endParaRPr>
          </a:p>
        </p:txBody>
      </p:sp>
      <p:pic>
        <p:nvPicPr>
          <p:cNvPr id="197" name="Google Shape;197;p6" title="5. governance_research_growth_overtime.png"/>
          <p:cNvPicPr preferRelativeResize="0"/>
          <p:nvPr/>
        </p:nvPicPr>
        <p:blipFill>
          <a:blip r:embed="rId4">
            <a:alphaModFix/>
          </a:blip>
          <a:stretch>
            <a:fillRect/>
          </a:stretch>
        </p:blipFill>
        <p:spPr>
          <a:xfrm>
            <a:off x="274325" y="914400"/>
            <a:ext cx="4389125" cy="37490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202" name="Shape 202"/>
        <p:cNvGrpSpPr/>
        <p:nvPr/>
      </p:nvGrpSpPr>
      <p:grpSpPr>
        <a:xfrm>
          <a:off x="0" y="0"/>
          <a:ext cx="0" cy="0"/>
          <a:chOff x="0" y="0"/>
          <a:chExt cx="0" cy="0"/>
        </a:xfrm>
      </p:grpSpPr>
      <p:sp>
        <p:nvSpPr>
          <p:cNvPr id="203" name="Google Shape;203;p7"/>
          <p:cNvSpPr/>
          <p:nvPr/>
        </p:nvSpPr>
        <p:spPr>
          <a:xfrm>
            <a:off x="0" y="0"/>
            <a:ext cx="9144000" cy="685800"/>
          </a:xfrm>
          <a:prstGeom prst="rect">
            <a:avLst/>
          </a:prstGeom>
          <a:solidFill>
            <a:srgbClr val="1B2F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 name="Google Shape;204;p7"/>
          <p:cNvSpPr/>
          <p:nvPr/>
        </p:nvSpPr>
        <p:spPr>
          <a:xfrm>
            <a:off x="0" y="685800"/>
            <a:ext cx="9144000" cy="54864"/>
          </a:xfrm>
          <a:prstGeom prst="rect">
            <a:avLst/>
          </a:prstGeom>
          <a:solidFill>
            <a:srgbClr val="C8A9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5" name="Google Shape;205;p7"/>
          <p:cNvSpPr/>
          <p:nvPr/>
        </p:nvSpPr>
        <p:spPr>
          <a:xfrm>
            <a:off x="365760" y="0"/>
            <a:ext cx="841248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mbria"/>
              <a:buNone/>
            </a:pPr>
            <a:r>
              <a:rPr b="1" lang="en-US" sz="2600">
                <a:solidFill>
                  <a:srgbClr val="FFFFFF"/>
                </a:solidFill>
                <a:latin typeface="Cambria"/>
                <a:ea typeface="Cambria"/>
                <a:cs typeface="Cambria"/>
                <a:sym typeface="Cambria"/>
              </a:rPr>
              <a:t>Results: Country-Level Paper Collaboration</a:t>
            </a:r>
            <a:endParaRPr sz="2600">
              <a:solidFill>
                <a:schemeClr val="dk1"/>
              </a:solidFill>
              <a:latin typeface="Calibri"/>
              <a:ea typeface="Calibri"/>
              <a:cs typeface="Calibri"/>
              <a:sym typeface="Calibri"/>
            </a:endParaRPr>
          </a:p>
        </p:txBody>
      </p:sp>
      <p:sp>
        <p:nvSpPr>
          <p:cNvPr id="206" name="Google Shape;206;p7"/>
          <p:cNvSpPr/>
          <p:nvPr/>
        </p:nvSpPr>
        <p:spPr>
          <a:xfrm>
            <a:off x="0" y="5001768"/>
            <a:ext cx="9144000" cy="141732"/>
          </a:xfrm>
          <a:prstGeom prst="rect">
            <a:avLst/>
          </a:prstGeom>
          <a:solidFill>
            <a:srgbClr val="1B2F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 name="Google Shape;207;p7"/>
          <p:cNvSpPr/>
          <p:nvPr/>
        </p:nvSpPr>
        <p:spPr>
          <a:xfrm>
            <a:off x="274320" y="5001768"/>
            <a:ext cx="8595360" cy="1417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A951"/>
              </a:buClr>
              <a:buSzPts val="900"/>
              <a:buFont typeface="Calibri"/>
              <a:buNone/>
            </a:pPr>
            <a:r>
              <a:rPr lang="en-US" sz="900">
                <a:solidFill>
                  <a:srgbClr val="C8A951"/>
                </a:solidFill>
                <a:latin typeface="Calibri"/>
                <a:ea typeface="Calibri"/>
                <a:cs typeface="Calibri"/>
                <a:sym typeface="Calibri"/>
              </a:rPr>
              <a:t>Global AI Governance Narratives  |  Charumbira &amp; Gray  |  GWU CCAS  |  Spring 2026</a:t>
            </a:r>
            <a:endParaRPr sz="900">
              <a:solidFill>
                <a:schemeClr val="dk1"/>
              </a:solidFill>
              <a:latin typeface="Calibri"/>
              <a:ea typeface="Calibri"/>
              <a:cs typeface="Calibri"/>
              <a:sym typeface="Calibri"/>
            </a:endParaRPr>
          </a:p>
        </p:txBody>
      </p:sp>
      <p:sp>
        <p:nvSpPr>
          <p:cNvPr id="208" name="Google Shape;208;p7"/>
          <p:cNvSpPr/>
          <p:nvPr/>
        </p:nvSpPr>
        <p:spPr>
          <a:xfrm>
            <a:off x="5532125" y="1298451"/>
            <a:ext cx="3337500" cy="945900"/>
          </a:xfrm>
          <a:prstGeom prst="rect">
            <a:avLst/>
          </a:prstGeom>
          <a:solidFill>
            <a:srgbClr val="FFFFFF"/>
          </a:solidFill>
          <a:ln cap="flat" cmpd="sng" w="9525">
            <a:solidFill>
              <a:srgbClr val="D0D5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 name="Google Shape;209;p7"/>
          <p:cNvSpPr/>
          <p:nvPr/>
        </p:nvSpPr>
        <p:spPr>
          <a:xfrm>
            <a:off x="5669280" y="1353312"/>
            <a:ext cx="30175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F5E"/>
              </a:buClr>
              <a:buSzPts val="1100"/>
              <a:buFont typeface="Cambria"/>
              <a:buNone/>
            </a:pPr>
            <a:r>
              <a:rPr b="1" lang="en-US" sz="1100">
                <a:solidFill>
                  <a:srgbClr val="1B2F5E"/>
                </a:solidFill>
                <a:latin typeface="Cambria"/>
                <a:ea typeface="Cambria"/>
                <a:cs typeface="Cambria"/>
                <a:sym typeface="Cambria"/>
              </a:rPr>
              <a:t>Top Bilateral Partnerships</a:t>
            </a:r>
            <a:endParaRPr sz="1100">
              <a:solidFill>
                <a:schemeClr val="dk1"/>
              </a:solidFill>
              <a:latin typeface="Calibri"/>
              <a:ea typeface="Calibri"/>
              <a:cs typeface="Calibri"/>
              <a:sym typeface="Calibri"/>
            </a:endParaRPr>
          </a:p>
        </p:txBody>
      </p:sp>
      <p:sp>
        <p:nvSpPr>
          <p:cNvPr id="210" name="Google Shape;210;p7"/>
          <p:cNvSpPr/>
          <p:nvPr/>
        </p:nvSpPr>
        <p:spPr>
          <a:xfrm>
            <a:off x="5669275" y="1572778"/>
            <a:ext cx="3017400" cy="54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4560"/>
              </a:buClr>
              <a:buSzPts val="1000"/>
              <a:buFont typeface="Calibri"/>
              <a:buNone/>
            </a:pPr>
            <a:r>
              <a:rPr lang="en-US" sz="1000">
                <a:solidFill>
                  <a:srgbClr val="3D4560"/>
                </a:solidFill>
                <a:latin typeface="Calibri"/>
                <a:ea typeface="Calibri"/>
                <a:cs typeface="Calibri"/>
                <a:sym typeface="Calibri"/>
              </a:rPr>
              <a:t>China–United States: 3,691 co-authored papers United Kingdom–United States: 2,336 Canada–United States: 2,245</a:t>
            </a:r>
            <a:endParaRPr sz="1000">
              <a:solidFill>
                <a:schemeClr val="dk1"/>
              </a:solidFill>
              <a:latin typeface="Calibri"/>
              <a:ea typeface="Calibri"/>
              <a:cs typeface="Calibri"/>
              <a:sym typeface="Calibri"/>
            </a:endParaRPr>
          </a:p>
        </p:txBody>
      </p:sp>
      <p:sp>
        <p:nvSpPr>
          <p:cNvPr id="211" name="Google Shape;211;p7"/>
          <p:cNvSpPr/>
          <p:nvPr/>
        </p:nvSpPr>
        <p:spPr>
          <a:xfrm>
            <a:off x="5509288" y="2752350"/>
            <a:ext cx="3337500" cy="1178100"/>
          </a:xfrm>
          <a:prstGeom prst="rect">
            <a:avLst/>
          </a:prstGeom>
          <a:solidFill>
            <a:srgbClr val="FFFFFF"/>
          </a:solidFill>
          <a:ln cap="flat" cmpd="sng" w="9525">
            <a:solidFill>
              <a:srgbClr val="D0D5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 name="Google Shape;212;p7"/>
          <p:cNvSpPr/>
          <p:nvPr/>
        </p:nvSpPr>
        <p:spPr>
          <a:xfrm>
            <a:off x="5669280" y="2761489"/>
            <a:ext cx="30174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F5E"/>
              </a:buClr>
              <a:buSzPts val="1100"/>
              <a:buFont typeface="Cambria"/>
              <a:buNone/>
            </a:pPr>
            <a:r>
              <a:rPr b="1" lang="en-US" sz="1100">
                <a:solidFill>
                  <a:srgbClr val="1B2F5E"/>
                </a:solidFill>
                <a:latin typeface="Cambria"/>
                <a:ea typeface="Cambria"/>
                <a:cs typeface="Cambria"/>
                <a:sym typeface="Cambria"/>
              </a:rPr>
              <a:t>Collaboration Gap</a:t>
            </a:r>
            <a:endParaRPr sz="1100">
              <a:solidFill>
                <a:schemeClr val="dk1"/>
              </a:solidFill>
              <a:latin typeface="Calibri"/>
              <a:ea typeface="Calibri"/>
              <a:cs typeface="Calibri"/>
              <a:sym typeface="Calibri"/>
            </a:endParaRPr>
          </a:p>
        </p:txBody>
      </p:sp>
      <p:sp>
        <p:nvSpPr>
          <p:cNvPr id="213" name="Google Shape;213;p7"/>
          <p:cNvSpPr/>
          <p:nvPr/>
        </p:nvSpPr>
        <p:spPr>
          <a:xfrm>
            <a:off x="5669338" y="3027349"/>
            <a:ext cx="3017400" cy="903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4560"/>
              </a:buClr>
              <a:buSzPts val="1000"/>
              <a:buFont typeface="Calibri"/>
              <a:buNone/>
            </a:pPr>
            <a:r>
              <a:rPr lang="en-US" sz="1000">
                <a:solidFill>
                  <a:srgbClr val="3D4560"/>
                </a:solidFill>
                <a:latin typeface="Calibri"/>
                <a:ea typeface="Calibri"/>
                <a:cs typeface="Calibri"/>
                <a:sym typeface="Calibri"/>
              </a:rPr>
              <a:t>The US appears in the top 6 bilateral pairs globally. Cross-regional collaboration involving Africa, the Middle East, or Latin America remains comparatively limited — the densest arcs connect North America, Europe, and Asia-Pacific.</a:t>
            </a:r>
            <a:endParaRPr sz="1000">
              <a:solidFill>
                <a:schemeClr val="dk1"/>
              </a:solidFill>
              <a:latin typeface="Calibri"/>
              <a:ea typeface="Calibri"/>
              <a:cs typeface="Calibri"/>
              <a:sym typeface="Calibri"/>
            </a:endParaRPr>
          </a:p>
        </p:txBody>
      </p:sp>
      <p:pic>
        <p:nvPicPr>
          <p:cNvPr id="214" name="Google Shape;214;p7"/>
          <p:cNvPicPr preferRelativeResize="0"/>
          <p:nvPr/>
        </p:nvPicPr>
        <p:blipFill>
          <a:blip r:embed="rId3">
            <a:alphaModFix/>
          </a:blip>
          <a:stretch>
            <a:fillRect/>
          </a:stretch>
        </p:blipFill>
        <p:spPr>
          <a:xfrm>
            <a:off x="152400" y="1157114"/>
            <a:ext cx="5227320" cy="297865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219" name="Shape 219"/>
        <p:cNvGrpSpPr/>
        <p:nvPr/>
      </p:nvGrpSpPr>
      <p:grpSpPr>
        <a:xfrm>
          <a:off x="0" y="0"/>
          <a:ext cx="0" cy="0"/>
          <a:chOff x="0" y="0"/>
          <a:chExt cx="0" cy="0"/>
        </a:xfrm>
      </p:grpSpPr>
      <p:sp>
        <p:nvSpPr>
          <p:cNvPr id="220" name="Google Shape;220;g3d974d6ffce_0_12"/>
          <p:cNvSpPr/>
          <p:nvPr/>
        </p:nvSpPr>
        <p:spPr>
          <a:xfrm>
            <a:off x="0" y="0"/>
            <a:ext cx="9144000" cy="685800"/>
          </a:xfrm>
          <a:prstGeom prst="rect">
            <a:avLst/>
          </a:prstGeom>
          <a:solidFill>
            <a:srgbClr val="1B2F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 name="Google Shape;221;g3d974d6ffce_0_12"/>
          <p:cNvSpPr/>
          <p:nvPr/>
        </p:nvSpPr>
        <p:spPr>
          <a:xfrm>
            <a:off x="0" y="685800"/>
            <a:ext cx="9144000" cy="54900"/>
          </a:xfrm>
          <a:prstGeom prst="rect">
            <a:avLst/>
          </a:prstGeom>
          <a:solidFill>
            <a:srgbClr val="C8A9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2" name="Google Shape;222;g3d974d6ffce_0_12"/>
          <p:cNvSpPr/>
          <p:nvPr/>
        </p:nvSpPr>
        <p:spPr>
          <a:xfrm>
            <a:off x="365760" y="0"/>
            <a:ext cx="84126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mbria"/>
              <a:buNone/>
            </a:pPr>
            <a:r>
              <a:rPr b="1" lang="en-US" sz="2600">
                <a:solidFill>
                  <a:srgbClr val="FFFFFF"/>
                </a:solidFill>
                <a:latin typeface="Cambria"/>
                <a:ea typeface="Cambria"/>
                <a:cs typeface="Cambria"/>
                <a:sym typeface="Cambria"/>
              </a:rPr>
              <a:t>Results: </a:t>
            </a:r>
            <a:r>
              <a:rPr b="1" lang="en-US" sz="2600">
                <a:solidFill>
                  <a:srgbClr val="FFFFFF"/>
                </a:solidFill>
                <a:latin typeface="Cambria"/>
                <a:ea typeface="Cambria"/>
                <a:cs typeface="Cambria"/>
                <a:sym typeface="Cambria"/>
              </a:rPr>
              <a:t>Institution Co-authorship Network</a:t>
            </a:r>
            <a:endParaRPr b="1" sz="2600">
              <a:solidFill>
                <a:srgbClr val="FFFFFF"/>
              </a:solidFill>
              <a:latin typeface="Cambria"/>
              <a:ea typeface="Cambria"/>
              <a:cs typeface="Cambria"/>
              <a:sym typeface="Cambria"/>
            </a:endParaRPr>
          </a:p>
        </p:txBody>
      </p:sp>
      <p:sp>
        <p:nvSpPr>
          <p:cNvPr id="223" name="Google Shape;223;g3d974d6ffce_0_12"/>
          <p:cNvSpPr/>
          <p:nvPr/>
        </p:nvSpPr>
        <p:spPr>
          <a:xfrm>
            <a:off x="0" y="5001768"/>
            <a:ext cx="9144000" cy="141600"/>
          </a:xfrm>
          <a:prstGeom prst="rect">
            <a:avLst/>
          </a:prstGeom>
          <a:solidFill>
            <a:srgbClr val="1B2F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 name="Google Shape;224;g3d974d6ffce_0_12"/>
          <p:cNvSpPr/>
          <p:nvPr/>
        </p:nvSpPr>
        <p:spPr>
          <a:xfrm>
            <a:off x="274320" y="5001768"/>
            <a:ext cx="8595300" cy="14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A951"/>
              </a:buClr>
              <a:buSzPts val="900"/>
              <a:buFont typeface="Calibri"/>
              <a:buNone/>
            </a:pPr>
            <a:r>
              <a:rPr lang="en-US" sz="900">
                <a:solidFill>
                  <a:srgbClr val="C8A951"/>
                </a:solidFill>
                <a:latin typeface="Calibri"/>
                <a:ea typeface="Calibri"/>
                <a:cs typeface="Calibri"/>
                <a:sym typeface="Calibri"/>
              </a:rPr>
              <a:t>Global AI Governance Narratives  |  Charumbira &amp; Gray  |  GWU CCAS  |  Spring 2026</a:t>
            </a:r>
            <a:endParaRPr sz="900">
              <a:solidFill>
                <a:schemeClr val="dk1"/>
              </a:solidFill>
              <a:latin typeface="Calibri"/>
              <a:ea typeface="Calibri"/>
              <a:cs typeface="Calibri"/>
              <a:sym typeface="Calibri"/>
            </a:endParaRPr>
          </a:p>
        </p:txBody>
      </p:sp>
      <p:sp>
        <p:nvSpPr>
          <p:cNvPr id="225" name="Google Shape;225;g3d974d6ffce_0_12"/>
          <p:cNvSpPr/>
          <p:nvPr/>
        </p:nvSpPr>
        <p:spPr>
          <a:xfrm>
            <a:off x="5532120" y="914400"/>
            <a:ext cx="33375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F5E"/>
              </a:buClr>
              <a:buSzPts val="1300"/>
              <a:buFont typeface="Cambria"/>
              <a:buNone/>
            </a:pPr>
            <a:r>
              <a:rPr b="1" lang="en-US" sz="1300">
                <a:solidFill>
                  <a:srgbClr val="1B2F5E"/>
                </a:solidFill>
                <a:latin typeface="Cambria"/>
                <a:ea typeface="Cambria"/>
                <a:cs typeface="Cambria"/>
                <a:sym typeface="Cambria"/>
              </a:rPr>
              <a:t>Institutional Network </a:t>
            </a:r>
            <a:r>
              <a:rPr b="1" lang="en-US" sz="1300">
                <a:solidFill>
                  <a:srgbClr val="1B2F5E"/>
                </a:solidFill>
                <a:latin typeface="Cambria"/>
                <a:ea typeface="Cambria"/>
                <a:cs typeface="Cambria"/>
                <a:sym typeface="Cambria"/>
              </a:rPr>
              <a:t>Highlights</a:t>
            </a:r>
            <a:endParaRPr sz="1300">
              <a:solidFill>
                <a:schemeClr val="dk1"/>
              </a:solidFill>
              <a:latin typeface="Calibri"/>
              <a:ea typeface="Calibri"/>
              <a:cs typeface="Calibri"/>
              <a:sym typeface="Calibri"/>
            </a:endParaRPr>
          </a:p>
        </p:txBody>
      </p:sp>
      <p:grpSp>
        <p:nvGrpSpPr>
          <p:cNvPr id="226" name="Google Shape;226;g3d974d6ffce_0_12"/>
          <p:cNvGrpSpPr/>
          <p:nvPr/>
        </p:nvGrpSpPr>
        <p:grpSpPr>
          <a:xfrm>
            <a:off x="5532125" y="1293070"/>
            <a:ext cx="3337500" cy="961800"/>
            <a:chOff x="5532125" y="1298451"/>
            <a:chExt cx="3337500" cy="961800"/>
          </a:xfrm>
        </p:grpSpPr>
        <p:sp>
          <p:nvSpPr>
            <p:cNvPr id="227" name="Google Shape;227;g3d974d6ffce_0_12"/>
            <p:cNvSpPr/>
            <p:nvPr/>
          </p:nvSpPr>
          <p:spPr>
            <a:xfrm>
              <a:off x="5532125" y="1298451"/>
              <a:ext cx="3337500" cy="961800"/>
            </a:xfrm>
            <a:prstGeom prst="rect">
              <a:avLst/>
            </a:prstGeom>
            <a:solidFill>
              <a:srgbClr val="FFFFFF"/>
            </a:solidFill>
            <a:ln cap="flat" cmpd="sng" w="9525">
              <a:solidFill>
                <a:srgbClr val="D0D5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8" name="Google Shape;228;g3d974d6ffce_0_12"/>
            <p:cNvSpPr/>
            <p:nvPr/>
          </p:nvSpPr>
          <p:spPr>
            <a:xfrm>
              <a:off x="5669280" y="1353312"/>
              <a:ext cx="30174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F5E"/>
                </a:buClr>
                <a:buSzPts val="1100"/>
                <a:buFont typeface="Cambria"/>
                <a:buNone/>
              </a:pPr>
              <a:r>
                <a:rPr b="1" lang="en-US" sz="1100">
                  <a:solidFill>
                    <a:srgbClr val="1B2F5E"/>
                  </a:solidFill>
                  <a:latin typeface="Cambria"/>
                  <a:ea typeface="Cambria"/>
                  <a:cs typeface="Cambria"/>
                  <a:sym typeface="Cambria"/>
                </a:rPr>
                <a:t>Europe</a:t>
              </a:r>
              <a:endParaRPr sz="1100">
                <a:solidFill>
                  <a:schemeClr val="dk1"/>
                </a:solidFill>
                <a:latin typeface="Calibri"/>
                <a:ea typeface="Calibri"/>
                <a:cs typeface="Calibri"/>
                <a:sym typeface="Calibri"/>
              </a:endParaRPr>
            </a:p>
          </p:txBody>
        </p:sp>
        <p:sp>
          <p:nvSpPr>
            <p:cNvPr id="229" name="Google Shape;229;g3d974d6ffce_0_12"/>
            <p:cNvSpPr/>
            <p:nvPr/>
          </p:nvSpPr>
          <p:spPr>
            <a:xfrm>
              <a:off x="5669275" y="1572775"/>
              <a:ext cx="3017400" cy="61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4560"/>
                </a:buClr>
                <a:buSzPts val="1000"/>
                <a:buFont typeface="Calibri"/>
                <a:buNone/>
              </a:pPr>
              <a:r>
                <a:rPr lang="en-US" sz="1000">
                  <a:solidFill>
                    <a:srgbClr val="3D4560"/>
                  </a:solidFill>
                  <a:latin typeface="Calibri"/>
                  <a:ea typeface="Calibri"/>
                  <a:cs typeface="Calibri"/>
                  <a:sym typeface="Calibri"/>
                </a:rPr>
                <a:t>University of Oxford and University of Cambridge are the most central European nodes, with dense connections to partners across regions. Universidad Complutense de Madrid, Universiteit van Amsterdam, and London School of Economics also feature as well-connected hubs.</a:t>
              </a:r>
              <a:endParaRPr sz="1000">
                <a:solidFill>
                  <a:schemeClr val="dk1"/>
                </a:solidFill>
                <a:latin typeface="Calibri"/>
                <a:ea typeface="Calibri"/>
                <a:cs typeface="Calibri"/>
                <a:sym typeface="Calibri"/>
              </a:endParaRPr>
            </a:p>
          </p:txBody>
        </p:sp>
      </p:grpSp>
      <p:grpSp>
        <p:nvGrpSpPr>
          <p:cNvPr id="230" name="Google Shape;230;g3d974d6ffce_0_12"/>
          <p:cNvGrpSpPr/>
          <p:nvPr/>
        </p:nvGrpSpPr>
        <p:grpSpPr>
          <a:xfrm>
            <a:off x="5532125" y="2445924"/>
            <a:ext cx="3337500" cy="1140000"/>
            <a:chOff x="5532125" y="2057390"/>
            <a:chExt cx="3337500" cy="1140000"/>
          </a:xfrm>
        </p:grpSpPr>
        <p:sp>
          <p:nvSpPr>
            <p:cNvPr id="231" name="Google Shape;231;g3d974d6ffce_0_12"/>
            <p:cNvSpPr/>
            <p:nvPr/>
          </p:nvSpPr>
          <p:spPr>
            <a:xfrm>
              <a:off x="5532125" y="2057390"/>
              <a:ext cx="3337500" cy="1140000"/>
            </a:xfrm>
            <a:prstGeom prst="rect">
              <a:avLst/>
            </a:prstGeom>
            <a:solidFill>
              <a:srgbClr val="FFFFFF"/>
            </a:solidFill>
            <a:ln cap="flat" cmpd="sng" w="9525">
              <a:solidFill>
                <a:srgbClr val="D0D5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 name="Google Shape;232;g3d974d6ffce_0_12"/>
            <p:cNvSpPr/>
            <p:nvPr/>
          </p:nvSpPr>
          <p:spPr>
            <a:xfrm>
              <a:off x="5669280" y="2112264"/>
              <a:ext cx="30174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F5E"/>
                </a:buClr>
                <a:buSzPts val="1100"/>
                <a:buFont typeface="Cambria"/>
                <a:buNone/>
              </a:pPr>
              <a:r>
                <a:rPr b="1" lang="en-US" sz="1100">
                  <a:solidFill>
                    <a:srgbClr val="1B2F5E"/>
                  </a:solidFill>
                  <a:latin typeface="Cambria"/>
                  <a:ea typeface="Cambria"/>
                  <a:cs typeface="Cambria"/>
                  <a:sym typeface="Cambria"/>
                </a:rPr>
                <a:t>Asia</a:t>
              </a:r>
              <a:endParaRPr sz="1100">
                <a:solidFill>
                  <a:schemeClr val="dk1"/>
                </a:solidFill>
                <a:latin typeface="Calibri"/>
                <a:ea typeface="Calibri"/>
                <a:cs typeface="Calibri"/>
                <a:sym typeface="Calibri"/>
              </a:endParaRPr>
            </a:p>
          </p:txBody>
        </p:sp>
        <p:sp>
          <p:nvSpPr>
            <p:cNvPr id="233" name="Google Shape;233;g3d974d6ffce_0_12"/>
            <p:cNvSpPr/>
            <p:nvPr/>
          </p:nvSpPr>
          <p:spPr>
            <a:xfrm>
              <a:off x="5669275" y="2331716"/>
              <a:ext cx="3017400" cy="61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4560"/>
                </a:buClr>
                <a:buSzPts val="1000"/>
                <a:buFont typeface="Calibri"/>
                <a:buNone/>
              </a:pPr>
              <a:r>
                <a:t/>
              </a:r>
              <a:endParaRPr sz="1000">
                <a:solidFill>
                  <a:srgbClr val="3D4560"/>
                </a:solidFill>
                <a:latin typeface="Calibri"/>
                <a:ea typeface="Calibri"/>
                <a:cs typeface="Calibri"/>
                <a:sym typeface="Calibri"/>
              </a:endParaRPr>
            </a:p>
            <a:p>
              <a:pPr indent="0" lvl="0" marL="0" marR="0" rtl="0" algn="l">
                <a:spcBef>
                  <a:spcPts val="0"/>
                </a:spcBef>
                <a:spcAft>
                  <a:spcPts val="0"/>
                </a:spcAft>
                <a:buClr>
                  <a:srgbClr val="3D4560"/>
                </a:buClr>
                <a:buSzPts val="1000"/>
                <a:buFont typeface="Calibri"/>
                <a:buNone/>
              </a:pPr>
              <a:r>
                <a:rPr lang="en-US" sz="1000">
                  <a:solidFill>
                    <a:srgbClr val="3D4560"/>
                  </a:solidFill>
                  <a:latin typeface="Calibri"/>
                  <a:ea typeface="Calibri"/>
                  <a:cs typeface="Calibri"/>
                  <a:sym typeface="Calibri"/>
                </a:rPr>
                <a:t>Chitkara University, Punjab and O.P. Jindal Global University are the most prominent Asian nodes. Saudi institutions — Umm Al-Qura University, Prince Sattam Bin Abdulaziz University — form a distinct, highly interconnected cluster, reflecting strong intra-regional collaboration.</a:t>
              </a:r>
              <a:endParaRPr sz="1000">
                <a:solidFill>
                  <a:schemeClr val="dk1"/>
                </a:solidFill>
                <a:latin typeface="Calibri"/>
                <a:ea typeface="Calibri"/>
                <a:cs typeface="Calibri"/>
                <a:sym typeface="Calibri"/>
              </a:endParaRPr>
            </a:p>
          </p:txBody>
        </p:sp>
      </p:grpSp>
      <p:grpSp>
        <p:nvGrpSpPr>
          <p:cNvPr id="234" name="Google Shape;234;g3d974d6ffce_0_12"/>
          <p:cNvGrpSpPr/>
          <p:nvPr/>
        </p:nvGrpSpPr>
        <p:grpSpPr>
          <a:xfrm>
            <a:off x="5532125" y="3773625"/>
            <a:ext cx="3428250" cy="986584"/>
            <a:chOff x="5509225" y="2762516"/>
            <a:chExt cx="3428250" cy="986584"/>
          </a:xfrm>
        </p:grpSpPr>
        <p:sp>
          <p:nvSpPr>
            <p:cNvPr id="235" name="Google Shape;235;g3d974d6ffce_0_12"/>
            <p:cNvSpPr/>
            <p:nvPr/>
          </p:nvSpPr>
          <p:spPr>
            <a:xfrm>
              <a:off x="5509225" y="2816400"/>
              <a:ext cx="3337500" cy="932700"/>
            </a:xfrm>
            <a:prstGeom prst="rect">
              <a:avLst/>
            </a:prstGeom>
            <a:solidFill>
              <a:srgbClr val="FFFFFF"/>
            </a:solidFill>
            <a:ln cap="flat" cmpd="sng" w="9525">
              <a:solidFill>
                <a:srgbClr val="D0D5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6" name="Google Shape;236;g3d974d6ffce_0_12"/>
            <p:cNvSpPr/>
            <p:nvPr/>
          </p:nvSpPr>
          <p:spPr>
            <a:xfrm>
              <a:off x="5669280" y="2762516"/>
              <a:ext cx="30174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F5E"/>
                </a:buClr>
                <a:buSzPts val="1100"/>
                <a:buFont typeface="Cambria"/>
                <a:buNone/>
              </a:pPr>
              <a:r>
                <a:rPr b="1" lang="en-US" sz="1100">
                  <a:solidFill>
                    <a:srgbClr val="1B2F5E"/>
                  </a:solidFill>
                  <a:latin typeface="Cambria"/>
                  <a:ea typeface="Cambria"/>
                  <a:cs typeface="Cambria"/>
                  <a:sym typeface="Cambria"/>
                </a:rPr>
                <a:t>North America</a:t>
              </a:r>
              <a:endParaRPr sz="1100">
                <a:solidFill>
                  <a:schemeClr val="dk1"/>
                </a:solidFill>
                <a:latin typeface="Calibri"/>
                <a:ea typeface="Calibri"/>
                <a:cs typeface="Calibri"/>
                <a:sym typeface="Calibri"/>
              </a:endParaRPr>
            </a:p>
          </p:txBody>
        </p:sp>
        <p:sp>
          <p:nvSpPr>
            <p:cNvPr id="237" name="Google Shape;237;g3d974d6ffce_0_12"/>
            <p:cNvSpPr/>
            <p:nvPr/>
          </p:nvSpPr>
          <p:spPr>
            <a:xfrm>
              <a:off x="5669275" y="2993091"/>
              <a:ext cx="3268200" cy="57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4560"/>
                </a:buClr>
                <a:buSzPts val="1000"/>
                <a:buFont typeface="Calibri"/>
                <a:buNone/>
              </a:pPr>
              <a:r>
                <a:rPr lang="en-US" sz="1000">
                  <a:solidFill>
                    <a:srgbClr val="3D4560"/>
                  </a:solidFill>
                  <a:latin typeface="Calibri"/>
                  <a:ea typeface="Calibri"/>
                  <a:cs typeface="Calibri"/>
                  <a:sym typeface="Calibri"/>
                </a:rPr>
                <a:t>University of Maryland, College Park is the most visible North American node in the network. North American institutions appear more often as collaborative partners to European and Asian hubs than as dominant nodes themselves.</a:t>
              </a:r>
              <a:endParaRPr sz="1000">
                <a:solidFill>
                  <a:schemeClr val="dk1"/>
                </a:solidFill>
                <a:latin typeface="Calibri"/>
                <a:ea typeface="Calibri"/>
                <a:cs typeface="Calibri"/>
                <a:sym typeface="Calibri"/>
              </a:endParaRPr>
            </a:p>
          </p:txBody>
        </p:sp>
      </p:grpSp>
      <p:pic>
        <p:nvPicPr>
          <p:cNvPr id="238" name="Google Shape;238;g3d974d6ffce_0_12" title="1. vosviewer_institution_governance_network.png"/>
          <p:cNvPicPr preferRelativeResize="0"/>
          <p:nvPr/>
        </p:nvPicPr>
        <p:blipFill>
          <a:blip r:embed="rId3">
            <a:alphaModFix/>
          </a:blip>
          <a:stretch>
            <a:fillRect/>
          </a:stretch>
        </p:blipFill>
        <p:spPr>
          <a:xfrm>
            <a:off x="274325" y="1246375"/>
            <a:ext cx="4823112" cy="3379450"/>
          </a:xfrm>
          <a:prstGeom prst="rect">
            <a:avLst/>
          </a:prstGeom>
          <a:noFill/>
          <a:ln>
            <a:noFill/>
          </a:ln>
        </p:spPr>
      </p:pic>
      <p:sp>
        <p:nvSpPr>
          <p:cNvPr id="239" name="Google Shape;239;g3d974d6ffce_0_12"/>
          <p:cNvSpPr/>
          <p:nvPr/>
        </p:nvSpPr>
        <p:spPr>
          <a:xfrm>
            <a:off x="365745" y="914400"/>
            <a:ext cx="33375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F5E"/>
              </a:buClr>
              <a:buSzPts val="1300"/>
              <a:buFont typeface="Cambria"/>
              <a:buNone/>
            </a:pPr>
            <a:r>
              <a:rPr b="1" lang="en-US" sz="1300">
                <a:solidFill>
                  <a:srgbClr val="1B2F5E"/>
                </a:solidFill>
                <a:latin typeface="Cambria"/>
                <a:ea typeface="Cambria"/>
                <a:cs typeface="Cambria"/>
                <a:sym typeface="Cambria"/>
              </a:rPr>
              <a:t>Top Contributing Institutions</a:t>
            </a:r>
            <a:endParaRPr sz="13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244" name="Shape 244"/>
        <p:cNvGrpSpPr/>
        <p:nvPr/>
      </p:nvGrpSpPr>
      <p:grpSpPr>
        <a:xfrm>
          <a:off x="0" y="0"/>
          <a:ext cx="0" cy="0"/>
          <a:chOff x="0" y="0"/>
          <a:chExt cx="0" cy="0"/>
        </a:xfrm>
      </p:grpSpPr>
      <p:sp>
        <p:nvSpPr>
          <p:cNvPr id="245" name="Google Shape;245;p8"/>
          <p:cNvSpPr/>
          <p:nvPr/>
        </p:nvSpPr>
        <p:spPr>
          <a:xfrm>
            <a:off x="0" y="0"/>
            <a:ext cx="9144000" cy="685800"/>
          </a:xfrm>
          <a:prstGeom prst="rect">
            <a:avLst/>
          </a:prstGeom>
          <a:solidFill>
            <a:srgbClr val="1B2F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6" name="Google Shape;246;p8"/>
          <p:cNvSpPr/>
          <p:nvPr/>
        </p:nvSpPr>
        <p:spPr>
          <a:xfrm>
            <a:off x="0" y="685800"/>
            <a:ext cx="9144000" cy="54864"/>
          </a:xfrm>
          <a:prstGeom prst="rect">
            <a:avLst/>
          </a:prstGeom>
          <a:solidFill>
            <a:srgbClr val="C8A9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7" name="Google Shape;247;p8"/>
          <p:cNvSpPr/>
          <p:nvPr/>
        </p:nvSpPr>
        <p:spPr>
          <a:xfrm>
            <a:off x="365750" y="0"/>
            <a:ext cx="87135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mbria"/>
              <a:buNone/>
            </a:pPr>
            <a:r>
              <a:rPr b="1" lang="en-US" sz="2600">
                <a:solidFill>
                  <a:srgbClr val="FFFFFF"/>
                </a:solidFill>
                <a:latin typeface="Cambria"/>
                <a:ea typeface="Cambria"/>
                <a:cs typeface="Cambria"/>
                <a:sym typeface="Cambria"/>
              </a:rPr>
              <a:t>Results: Governance Topics &amp; Academic-Policy Alignment</a:t>
            </a:r>
            <a:endParaRPr sz="2600">
              <a:solidFill>
                <a:schemeClr val="dk1"/>
              </a:solidFill>
              <a:latin typeface="Calibri"/>
              <a:ea typeface="Calibri"/>
              <a:cs typeface="Calibri"/>
              <a:sym typeface="Calibri"/>
            </a:endParaRPr>
          </a:p>
        </p:txBody>
      </p:sp>
      <p:sp>
        <p:nvSpPr>
          <p:cNvPr id="248" name="Google Shape;248;p8"/>
          <p:cNvSpPr/>
          <p:nvPr/>
        </p:nvSpPr>
        <p:spPr>
          <a:xfrm>
            <a:off x="0" y="5001768"/>
            <a:ext cx="9144000" cy="141732"/>
          </a:xfrm>
          <a:prstGeom prst="rect">
            <a:avLst/>
          </a:prstGeom>
          <a:solidFill>
            <a:srgbClr val="1B2F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9" name="Google Shape;249;p8"/>
          <p:cNvSpPr/>
          <p:nvPr/>
        </p:nvSpPr>
        <p:spPr>
          <a:xfrm>
            <a:off x="274320" y="5001768"/>
            <a:ext cx="8595360" cy="1417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A951"/>
              </a:buClr>
              <a:buSzPts val="900"/>
              <a:buFont typeface="Calibri"/>
              <a:buNone/>
            </a:pPr>
            <a:r>
              <a:rPr lang="en-US" sz="900">
                <a:solidFill>
                  <a:srgbClr val="C8A951"/>
                </a:solidFill>
                <a:latin typeface="Calibri"/>
                <a:ea typeface="Calibri"/>
                <a:cs typeface="Calibri"/>
                <a:sym typeface="Calibri"/>
              </a:rPr>
              <a:t>Global AI Governance Narratives  |  Charumbira &amp; Gray  |  GWU CCAS  |  Spring 2026</a:t>
            </a:r>
            <a:endParaRPr sz="900">
              <a:solidFill>
                <a:schemeClr val="dk1"/>
              </a:solidFill>
              <a:latin typeface="Calibri"/>
              <a:ea typeface="Calibri"/>
              <a:cs typeface="Calibri"/>
              <a:sym typeface="Calibri"/>
            </a:endParaRPr>
          </a:p>
        </p:txBody>
      </p:sp>
      <p:sp>
        <p:nvSpPr>
          <p:cNvPr id="250" name="Google Shape;250;p8"/>
          <p:cNvSpPr/>
          <p:nvPr/>
        </p:nvSpPr>
        <p:spPr>
          <a:xfrm>
            <a:off x="5486400" y="3797886"/>
            <a:ext cx="1600200" cy="1051500"/>
          </a:xfrm>
          <a:prstGeom prst="rect">
            <a:avLst/>
          </a:prstGeom>
          <a:solidFill>
            <a:srgbClr val="FFFFFF"/>
          </a:solidFill>
          <a:ln cap="flat" cmpd="sng" w="9525">
            <a:solidFill>
              <a:srgbClr val="D0D5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 name="Google Shape;251;p8"/>
          <p:cNvSpPr/>
          <p:nvPr/>
        </p:nvSpPr>
        <p:spPr>
          <a:xfrm>
            <a:off x="5486400" y="3834462"/>
            <a:ext cx="1600200" cy="594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F5E"/>
              </a:buClr>
              <a:buSzPts val="3600"/>
              <a:buFont typeface="Cambria"/>
              <a:buNone/>
            </a:pPr>
            <a:r>
              <a:rPr b="1" lang="en-US" sz="3600">
                <a:solidFill>
                  <a:srgbClr val="1B2F5E"/>
                </a:solidFill>
                <a:latin typeface="Cambria"/>
                <a:ea typeface="Cambria"/>
                <a:cs typeface="Cambria"/>
                <a:sym typeface="Cambria"/>
              </a:rPr>
              <a:t>7.8%</a:t>
            </a:r>
            <a:endParaRPr sz="3600">
              <a:solidFill>
                <a:schemeClr val="dk1"/>
              </a:solidFill>
              <a:latin typeface="Calibri"/>
              <a:ea typeface="Calibri"/>
              <a:cs typeface="Calibri"/>
              <a:sym typeface="Calibri"/>
            </a:endParaRPr>
          </a:p>
        </p:txBody>
      </p:sp>
      <p:sp>
        <p:nvSpPr>
          <p:cNvPr id="252" name="Google Shape;252;p8"/>
          <p:cNvSpPr/>
          <p:nvPr/>
        </p:nvSpPr>
        <p:spPr>
          <a:xfrm>
            <a:off x="5486400" y="4437966"/>
            <a:ext cx="1600200" cy="365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3D4560"/>
              </a:buClr>
              <a:buSzPts val="1100"/>
              <a:buFont typeface="Calibri"/>
              <a:buNone/>
            </a:pPr>
            <a:r>
              <a:rPr lang="en-US" sz="1100">
                <a:solidFill>
                  <a:srgbClr val="3D4560"/>
                </a:solidFill>
                <a:latin typeface="Calibri"/>
                <a:ea typeface="Calibri"/>
                <a:cs typeface="Calibri"/>
                <a:sym typeface="Calibri"/>
              </a:rPr>
              <a:t>of AI publications</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3D4560"/>
              </a:buClr>
              <a:buSzPts val="1100"/>
              <a:buFont typeface="Calibri"/>
              <a:buNone/>
            </a:pPr>
            <a:r>
              <a:rPr lang="en-US" sz="1100">
                <a:solidFill>
                  <a:srgbClr val="3D4560"/>
                </a:solidFill>
                <a:latin typeface="Calibri"/>
                <a:ea typeface="Calibri"/>
                <a:cs typeface="Calibri"/>
                <a:sym typeface="Calibri"/>
              </a:rPr>
              <a:t> address governance</a:t>
            </a:r>
            <a:endParaRPr sz="1100">
              <a:solidFill>
                <a:schemeClr val="dk1"/>
              </a:solidFill>
              <a:latin typeface="Calibri"/>
              <a:ea typeface="Calibri"/>
              <a:cs typeface="Calibri"/>
              <a:sym typeface="Calibri"/>
            </a:endParaRPr>
          </a:p>
        </p:txBody>
      </p:sp>
      <p:sp>
        <p:nvSpPr>
          <p:cNvPr id="253" name="Google Shape;253;p8"/>
          <p:cNvSpPr/>
          <p:nvPr/>
        </p:nvSpPr>
        <p:spPr>
          <a:xfrm>
            <a:off x="7223760" y="3797886"/>
            <a:ext cx="1600200" cy="1051500"/>
          </a:xfrm>
          <a:prstGeom prst="rect">
            <a:avLst/>
          </a:prstGeom>
          <a:solidFill>
            <a:srgbClr val="FFFFFF"/>
          </a:solidFill>
          <a:ln cap="flat" cmpd="sng" w="9525">
            <a:solidFill>
              <a:srgbClr val="D0D5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4" name="Google Shape;254;p8"/>
          <p:cNvSpPr/>
          <p:nvPr/>
        </p:nvSpPr>
        <p:spPr>
          <a:xfrm>
            <a:off x="7223760" y="3834462"/>
            <a:ext cx="1600200" cy="594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F5E"/>
              </a:buClr>
              <a:buSzPts val="3600"/>
              <a:buFont typeface="Cambria"/>
              <a:buNone/>
            </a:pPr>
            <a:r>
              <a:rPr b="1" lang="en-US" sz="3600">
                <a:solidFill>
                  <a:srgbClr val="1B2F5E"/>
                </a:solidFill>
                <a:latin typeface="Cambria"/>
                <a:ea typeface="Cambria"/>
                <a:cs typeface="Cambria"/>
                <a:sym typeface="Cambria"/>
              </a:rPr>
              <a:t>64.7%</a:t>
            </a:r>
            <a:endParaRPr sz="3600">
              <a:solidFill>
                <a:schemeClr val="dk1"/>
              </a:solidFill>
              <a:latin typeface="Calibri"/>
              <a:ea typeface="Calibri"/>
              <a:cs typeface="Calibri"/>
              <a:sym typeface="Calibri"/>
            </a:endParaRPr>
          </a:p>
        </p:txBody>
      </p:sp>
      <p:sp>
        <p:nvSpPr>
          <p:cNvPr id="255" name="Google Shape;255;p8"/>
          <p:cNvSpPr/>
          <p:nvPr/>
        </p:nvSpPr>
        <p:spPr>
          <a:xfrm>
            <a:off x="7223760" y="4437966"/>
            <a:ext cx="1600200" cy="365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3D4560"/>
              </a:buClr>
              <a:buSzPts val="1100"/>
              <a:buFont typeface="Calibri"/>
              <a:buNone/>
            </a:pPr>
            <a:r>
              <a:rPr lang="en-US" sz="1100">
                <a:solidFill>
                  <a:srgbClr val="3D4560"/>
                </a:solidFill>
                <a:latin typeface="Calibri"/>
                <a:ea typeface="Calibri"/>
                <a:cs typeface="Calibri"/>
                <a:sym typeface="Calibri"/>
              </a:rPr>
              <a:t>of governance corpus</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3D4560"/>
              </a:buClr>
              <a:buSzPts val="1100"/>
              <a:buFont typeface="Calibri"/>
              <a:buNone/>
            </a:pPr>
            <a:r>
              <a:rPr lang="en-US" sz="1100">
                <a:solidFill>
                  <a:srgbClr val="3D4560"/>
                </a:solidFill>
                <a:latin typeface="Calibri"/>
                <a:ea typeface="Calibri"/>
                <a:cs typeface="Calibri"/>
                <a:sym typeface="Calibri"/>
              </a:rPr>
              <a:t>in top 5 topics</a:t>
            </a:r>
            <a:endParaRPr sz="1100">
              <a:solidFill>
                <a:schemeClr val="dk1"/>
              </a:solidFill>
              <a:latin typeface="Calibri"/>
              <a:ea typeface="Calibri"/>
              <a:cs typeface="Calibri"/>
              <a:sym typeface="Calibri"/>
            </a:endParaRPr>
          </a:p>
        </p:txBody>
      </p:sp>
      <p:pic>
        <p:nvPicPr>
          <p:cNvPr id="256" name="Google Shape;256;p8"/>
          <p:cNvPicPr preferRelativeResize="0"/>
          <p:nvPr/>
        </p:nvPicPr>
        <p:blipFill>
          <a:blip r:embed="rId3">
            <a:alphaModFix/>
          </a:blip>
          <a:stretch>
            <a:fillRect/>
          </a:stretch>
        </p:blipFill>
        <p:spPr>
          <a:xfrm>
            <a:off x="152400" y="1249680"/>
            <a:ext cx="4857152" cy="3599689"/>
          </a:xfrm>
          <a:prstGeom prst="rect">
            <a:avLst/>
          </a:prstGeom>
          <a:noFill/>
          <a:ln>
            <a:noFill/>
          </a:ln>
        </p:spPr>
      </p:pic>
      <p:pic>
        <p:nvPicPr>
          <p:cNvPr id="257" name="Google Shape;257;p8"/>
          <p:cNvPicPr preferRelativeResize="0"/>
          <p:nvPr/>
        </p:nvPicPr>
        <p:blipFill>
          <a:blip r:embed="rId4">
            <a:alphaModFix/>
          </a:blip>
          <a:stretch>
            <a:fillRect/>
          </a:stretch>
        </p:blipFill>
        <p:spPr>
          <a:xfrm>
            <a:off x="5161952" y="1249680"/>
            <a:ext cx="3829647" cy="227955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262" name="Shape 262"/>
        <p:cNvGrpSpPr/>
        <p:nvPr/>
      </p:nvGrpSpPr>
      <p:grpSpPr>
        <a:xfrm>
          <a:off x="0" y="0"/>
          <a:ext cx="0" cy="0"/>
          <a:chOff x="0" y="0"/>
          <a:chExt cx="0" cy="0"/>
        </a:xfrm>
      </p:grpSpPr>
      <p:sp>
        <p:nvSpPr>
          <p:cNvPr id="263" name="Google Shape;263;p9"/>
          <p:cNvSpPr/>
          <p:nvPr/>
        </p:nvSpPr>
        <p:spPr>
          <a:xfrm>
            <a:off x="0" y="0"/>
            <a:ext cx="9144000" cy="685800"/>
          </a:xfrm>
          <a:prstGeom prst="rect">
            <a:avLst/>
          </a:prstGeom>
          <a:solidFill>
            <a:srgbClr val="1B2F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4" name="Google Shape;264;p9"/>
          <p:cNvSpPr/>
          <p:nvPr/>
        </p:nvSpPr>
        <p:spPr>
          <a:xfrm>
            <a:off x="0" y="685800"/>
            <a:ext cx="9144000" cy="54864"/>
          </a:xfrm>
          <a:prstGeom prst="rect">
            <a:avLst/>
          </a:prstGeom>
          <a:solidFill>
            <a:srgbClr val="C8A9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5" name="Google Shape;265;p9"/>
          <p:cNvSpPr/>
          <p:nvPr/>
        </p:nvSpPr>
        <p:spPr>
          <a:xfrm>
            <a:off x="365760" y="0"/>
            <a:ext cx="841248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mbria"/>
              <a:buNone/>
            </a:pPr>
            <a:r>
              <a:rPr b="1" lang="en-US" sz="2600">
                <a:solidFill>
                  <a:srgbClr val="FFFFFF"/>
                </a:solidFill>
                <a:latin typeface="Cambria"/>
                <a:ea typeface="Cambria"/>
                <a:cs typeface="Cambria"/>
                <a:sym typeface="Cambria"/>
              </a:rPr>
              <a:t>Results: Academic vs. Policy Alignment</a:t>
            </a:r>
            <a:endParaRPr sz="2600">
              <a:solidFill>
                <a:schemeClr val="dk1"/>
              </a:solidFill>
              <a:latin typeface="Calibri"/>
              <a:ea typeface="Calibri"/>
              <a:cs typeface="Calibri"/>
              <a:sym typeface="Calibri"/>
            </a:endParaRPr>
          </a:p>
        </p:txBody>
      </p:sp>
      <p:sp>
        <p:nvSpPr>
          <p:cNvPr id="266" name="Google Shape;266;p9"/>
          <p:cNvSpPr/>
          <p:nvPr/>
        </p:nvSpPr>
        <p:spPr>
          <a:xfrm>
            <a:off x="0" y="5001768"/>
            <a:ext cx="9144000" cy="141732"/>
          </a:xfrm>
          <a:prstGeom prst="rect">
            <a:avLst/>
          </a:prstGeom>
          <a:solidFill>
            <a:srgbClr val="1B2F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7" name="Google Shape;267;p9"/>
          <p:cNvSpPr/>
          <p:nvPr/>
        </p:nvSpPr>
        <p:spPr>
          <a:xfrm>
            <a:off x="274320" y="5001768"/>
            <a:ext cx="8595360" cy="1417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A951"/>
              </a:buClr>
              <a:buSzPts val="900"/>
              <a:buFont typeface="Calibri"/>
              <a:buNone/>
            </a:pPr>
            <a:r>
              <a:rPr lang="en-US" sz="900">
                <a:solidFill>
                  <a:srgbClr val="C8A951"/>
                </a:solidFill>
                <a:latin typeface="Calibri"/>
                <a:ea typeface="Calibri"/>
                <a:cs typeface="Calibri"/>
                <a:sym typeface="Calibri"/>
              </a:rPr>
              <a:t>Global AI Governance Narratives  |  Charumbira &amp; Gray  |  GWU CCAS  |  Spring 2026</a:t>
            </a:r>
            <a:endParaRPr sz="900">
              <a:solidFill>
                <a:schemeClr val="dk1"/>
              </a:solidFill>
              <a:latin typeface="Calibri"/>
              <a:ea typeface="Calibri"/>
              <a:cs typeface="Calibri"/>
              <a:sym typeface="Calibri"/>
            </a:endParaRPr>
          </a:p>
        </p:txBody>
      </p:sp>
      <p:sp>
        <p:nvSpPr>
          <p:cNvPr id="268" name="Google Shape;268;p9"/>
          <p:cNvSpPr/>
          <p:nvPr/>
        </p:nvSpPr>
        <p:spPr>
          <a:xfrm>
            <a:off x="274320" y="914400"/>
            <a:ext cx="2743200" cy="1051560"/>
          </a:xfrm>
          <a:prstGeom prst="rect">
            <a:avLst/>
          </a:prstGeom>
          <a:solidFill>
            <a:srgbClr val="FFFFFF"/>
          </a:solidFill>
          <a:ln cap="flat" cmpd="sng" w="9525">
            <a:solidFill>
              <a:srgbClr val="D0D5E0"/>
            </a:solidFill>
            <a:prstDash val="solid"/>
            <a:round/>
            <a:headEnd len="sm" w="sm" type="none"/>
            <a:tailEnd len="sm" w="sm" type="none"/>
          </a:ln>
          <a:effectLst>
            <a:outerShdw blurRad="762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9" name="Google Shape;269;p9"/>
          <p:cNvSpPr/>
          <p:nvPr/>
        </p:nvSpPr>
        <p:spPr>
          <a:xfrm>
            <a:off x="274320" y="950976"/>
            <a:ext cx="274320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F5E"/>
              </a:buClr>
              <a:buSzPts val="3600"/>
              <a:buFont typeface="Cambria"/>
              <a:buNone/>
            </a:pPr>
            <a:r>
              <a:rPr b="1" lang="en-US" sz="3600">
                <a:solidFill>
                  <a:srgbClr val="1B2F5E"/>
                </a:solidFill>
                <a:latin typeface="Cambria"/>
                <a:ea typeface="Cambria"/>
                <a:cs typeface="Cambria"/>
                <a:sym typeface="Cambria"/>
              </a:rPr>
              <a:t>21</a:t>
            </a:r>
            <a:endParaRPr sz="3600">
              <a:solidFill>
                <a:schemeClr val="dk1"/>
              </a:solidFill>
              <a:latin typeface="Calibri"/>
              <a:ea typeface="Calibri"/>
              <a:cs typeface="Calibri"/>
              <a:sym typeface="Calibri"/>
            </a:endParaRPr>
          </a:p>
        </p:txBody>
      </p:sp>
      <p:sp>
        <p:nvSpPr>
          <p:cNvPr id="270" name="Google Shape;270;p9"/>
          <p:cNvSpPr/>
          <p:nvPr/>
        </p:nvSpPr>
        <p:spPr>
          <a:xfrm>
            <a:off x="274320" y="1554480"/>
            <a:ext cx="274320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3D4560"/>
              </a:buClr>
              <a:buSzPts val="1100"/>
              <a:buFont typeface="Calibri"/>
              <a:buNone/>
            </a:pPr>
            <a:r>
              <a:rPr lang="en-US" sz="1100">
                <a:solidFill>
                  <a:srgbClr val="3D4560"/>
                </a:solidFill>
                <a:latin typeface="Calibri"/>
                <a:ea typeface="Calibri"/>
                <a:cs typeface="Calibri"/>
                <a:sym typeface="Calibri"/>
              </a:rPr>
              <a:t>Total governance topics</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3D4560"/>
              </a:buClr>
              <a:buSzPts val="1100"/>
              <a:buFont typeface="Calibri"/>
              <a:buNone/>
            </a:pPr>
            <a:r>
              <a:rPr lang="en-US" sz="1100">
                <a:solidFill>
                  <a:srgbClr val="3D4560"/>
                </a:solidFill>
                <a:latin typeface="Calibri"/>
                <a:ea typeface="Calibri"/>
                <a:cs typeface="Calibri"/>
                <a:sym typeface="Calibri"/>
              </a:rPr>
              <a:t>identified</a:t>
            </a:r>
            <a:endParaRPr sz="1100">
              <a:solidFill>
                <a:schemeClr val="dk1"/>
              </a:solidFill>
              <a:latin typeface="Calibri"/>
              <a:ea typeface="Calibri"/>
              <a:cs typeface="Calibri"/>
              <a:sym typeface="Calibri"/>
            </a:endParaRPr>
          </a:p>
        </p:txBody>
      </p:sp>
      <p:sp>
        <p:nvSpPr>
          <p:cNvPr id="271" name="Google Shape;271;p9"/>
          <p:cNvSpPr/>
          <p:nvPr/>
        </p:nvSpPr>
        <p:spPr>
          <a:xfrm>
            <a:off x="3246120" y="914400"/>
            <a:ext cx="2743200" cy="1051560"/>
          </a:xfrm>
          <a:prstGeom prst="rect">
            <a:avLst/>
          </a:prstGeom>
          <a:solidFill>
            <a:srgbClr val="FFFFFF"/>
          </a:solidFill>
          <a:ln cap="flat" cmpd="sng" w="9525">
            <a:solidFill>
              <a:srgbClr val="D0D5E0"/>
            </a:solidFill>
            <a:prstDash val="solid"/>
            <a:round/>
            <a:headEnd len="sm" w="sm" type="none"/>
            <a:tailEnd len="sm" w="sm" type="none"/>
          </a:ln>
          <a:effectLst>
            <a:outerShdw blurRad="762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2" name="Google Shape;272;p9"/>
          <p:cNvSpPr/>
          <p:nvPr/>
        </p:nvSpPr>
        <p:spPr>
          <a:xfrm>
            <a:off x="3246120" y="950976"/>
            <a:ext cx="274320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F5E"/>
              </a:buClr>
              <a:buSzPts val="3600"/>
              <a:buFont typeface="Cambria"/>
              <a:buNone/>
            </a:pPr>
            <a:r>
              <a:rPr b="1" lang="en-US" sz="3600">
                <a:solidFill>
                  <a:srgbClr val="1B2F5E"/>
                </a:solidFill>
                <a:latin typeface="Cambria"/>
                <a:ea typeface="Cambria"/>
                <a:cs typeface="Cambria"/>
                <a:sym typeface="Cambria"/>
              </a:rPr>
              <a:t>10</a:t>
            </a:r>
            <a:endParaRPr sz="3600">
              <a:solidFill>
                <a:schemeClr val="dk1"/>
              </a:solidFill>
              <a:latin typeface="Calibri"/>
              <a:ea typeface="Calibri"/>
              <a:cs typeface="Calibri"/>
              <a:sym typeface="Calibri"/>
            </a:endParaRPr>
          </a:p>
        </p:txBody>
      </p:sp>
      <p:sp>
        <p:nvSpPr>
          <p:cNvPr id="273" name="Google Shape;273;p9"/>
          <p:cNvSpPr/>
          <p:nvPr/>
        </p:nvSpPr>
        <p:spPr>
          <a:xfrm>
            <a:off x="3246120" y="1554480"/>
            <a:ext cx="274320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3D4560"/>
              </a:buClr>
              <a:buSzPts val="1100"/>
              <a:buFont typeface="Calibri"/>
              <a:buNone/>
            </a:pPr>
            <a:r>
              <a:rPr lang="en-US" sz="1100">
                <a:solidFill>
                  <a:srgbClr val="3D4560"/>
                </a:solidFill>
                <a:latin typeface="Calibri"/>
                <a:ea typeface="Calibri"/>
                <a:cs typeface="Calibri"/>
                <a:sym typeface="Calibri"/>
              </a:rPr>
              <a:t>Shared: academic</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3D4560"/>
              </a:buClr>
              <a:buSzPts val="1100"/>
              <a:buFont typeface="Calibri"/>
              <a:buNone/>
            </a:pPr>
            <a:r>
              <a:rPr lang="en-US" sz="1100">
                <a:solidFill>
                  <a:srgbClr val="3D4560"/>
                </a:solidFill>
                <a:latin typeface="Calibri"/>
                <a:ea typeface="Calibri"/>
                <a:cs typeface="Calibri"/>
                <a:sym typeface="Calibri"/>
              </a:rPr>
              <a:t>&amp; policy corpora</a:t>
            </a:r>
            <a:endParaRPr sz="1100">
              <a:solidFill>
                <a:schemeClr val="dk1"/>
              </a:solidFill>
              <a:latin typeface="Calibri"/>
              <a:ea typeface="Calibri"/>
              <a:cs typeface="Calibri"/>
              <a:sym typeface="Calibri"/>
            </a:endParaRPr>
          </a:p>
        </p:txBody>
      </p:sp>
      <p:sp>
        <p:nvSpPr>
          <p:cNvPr id="274" name="Google Shape;274;p9"/>
          <p:cNvSpPr/>
          <p:nvPr/>
        </p:nvSpPr>
        <p:spPr>
          <a:xfrm>
            <a:off x="6217920" y="914400"/>
            <a:ext cx="2743200" cy="1051560"/>
          </a:xfrm>
          <a:prstGeom prst="rect">
            <a:avLst/>
          </a:prstGeom>
          <a:solidFill>
            <a:srgbClr val="FFFFFF"/>
          </a:solidFill>
          <a:ln cap="flat" cmpd="sng" w="9525">
            <a:solidFill>
              <a:srgbClr val="D0D5E0"/>
            </a:solidFill>
            <a:prstDash val="solid"/>
            <a:round/>
            <a:headEnd len="sm" w="sm" type="none"/>
            <a:tailEnd len="sm" w="sm" type="none"/>
          </a:ln>
          <a:effectLst>
            <a:outerShdw blurRad="762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5" name="Google Shape;275;p9"/>
          <p:cNvSpPr/>
          <p:nvPr/>
        </p:nvSpPr>
        <p:spPr>
          <a:xfrm>
            <a:off x="6217920" y="950976"/>
            <a:ext cx="274320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F5E"/>
              </a:buClr>
              <a:buSzPts val="3600"/>
              <a:buFont typeface="Cambria"/>
              <a:buNone/>
            </a:pPr>
            <a:r>
              <a:rPr b="1" lang="en-US" sz="3600">
                <a:solidFill>
                  <a:srgbClr val="1B2F5E"/>
                </a:solidFill>
                <a:latin typeface="Cambria"/>
                <a:ea typeface="Cambria"/>
                <a:cs typeface="Cambria"/>
                <a:sym typeface="Cambria"/>
              </a:rPr>
              <a:t>11</a:t>
            </a:r>
            <a:endParaRPr sz="3600">
              <a:solidFill>
                <a:schemeClr val="dk1"/>
              </a:solidFill>
              <a:latin typeface="Calibri"/>
              <a:ea typeface="Calibri"/>
              <a:cs typeface="Calibri"/>
              <a:sym typeface="Calibri"/>
            </a:endParaRPr>
          </a:p>
        </p:txBody>
      </p:sp>
      <p:sp>
        <p:nvSpPr>
          <p:cNvPr id="276" name="Google Shape;276;p9"/>
          <p:cNvSpPr/>
          <p:nvPr/>
        </p:nvSpPr>
        <p:spPr>
          <a:xfrm>
            <a:off x="6217920" y="1554480"/>
            <a:ext cx="274320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3D4560"/>
              </a:buClr>
              <a:buSzPts val="1100"/>
              <a:buFont typeface="Calibri"/>
              <a:buNone/>
            </a:pPr>
            <a:r>
              <a:rPr lang="en-US" sz="1100">
                <a:solidFill>
                  <a:srgbClr val="3D4560"/>
                </a:solidFill>
                <a:latin typeface="Calibri"/>
                <a:ea typeface="Calibri"/>
                <a:cs typeface="Calibri"/>
                <a:sym typeface="Calibri"/>
              </a:rPr>
              <a:t>Academic-only</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3D4560"/>
              </a:buClr>
              <a:buSzPts val="1100"/>
              <a:buFont typeface="Calibri"/>
              <a:buNone/>
            </a:pPr>
            <a:r>
              <a:rPr lang="en-US" sz="1100">
                <a:solidFill>
                  <a:srgbClr val="3D4560"/>
                </a:solidFill>
                <a:latin typeface="Calibri"/>
                <a:ea typeface="Calibri"/>
                <a:cs typeface="Calibri"/>
                <a:sym typeface="Calibri"/>
              </a:rPr>
              <a:t>(knowledge-policy gap)</a:t>
            </a:r>
            <a:endParaRPr sz="1100">
              <a:solidFill>
                <a:schemeClr val="dk1"/>
              </a:solidFill>
              <a:latin typeface="Calibri"/>
              <a:ea typeface="Calibri"/>
              <a:cs typeface="Calibri"/>
              <a:sym typeface="Calibri"/>
            </a:endParaRPr>
          </a:p>
        </p:txBody>
      </p:sp>
      <p:sp>
        <p:nvSpPr>
          <p:cNvPr id="277" name="Google Shape;277;p9"/>
          <p:cNvSpPr/>
          <p:nvPr/>
        </p:nvSpPr>
        <p:spPr>
          <a:xfrm>
            <a:off x="274320" y="2176272"/>
            <a:ext cx="4114800" cy="2468880"/>
          </a:xfrm>
          <a:prstGeom prst="rect">
            <a:avLst/>
          </a:prstGeom>
          <a:solidFill>
            <a:srgbClr val="FFFFFF"/>
          </a:solidFill>
          <a:ln cap="flat" cmpd="sng" w="9525">
            <a:solidFill>
              <a:srgbClr val="D0D5E0"/>
            </a:solidFill>
            <a:prstDash val="solid"/>
            <a:round/>
            <a:headEnd len="sm" w="sm" type="none"/>
            <a:tailEnd len="sm" w="sm" type="none"/>
          </a:ln>
          <a:effectLst>
            <a:outerShdw blurRad="762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8" name="Google Shape;278;p9"/>
          <p:cNvSpPr/>
          <p:nvPr/>
        </p:nvSpPr>
        <p:spPr>
          <a:xfrm>
            <a:off x="502920" y="2267712"/>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F5E"/>
              </a:buClr>
              <a:buSzPts val="1400"/>
              <a:buFont typeface="Cambria"/>
              <a:buNone/>
            </a:pPr>
            <a:r>
              <a:rPr b="1" lang="en-US" sz="1400">
                <a:solidFill>
                  <a:srgbClr val="1B2F5E"/>
                </a:solidFill>
                <a:latin typeface="Cambria"/>
                <a:ea typeface="Cambria"/>
                <a:cs typeface="Cambria"/>
                <a:sym typeface="Cambria"/>
              </a:rPr>
              <a:t>Academic-Only Topics (Gap)</a:t>
            </a:r>
            <a:endParaRPr sz="1400">
              <a:solidFill>
                <a:schemeClr val="dk1"/>
              </a:solidFill>
              <a:latin typeface="Calibri"/>
              <a:ea typeface="Calibri"/>
              <a:cs typeface="Calibri"/>
              <a:sym typeface="Calibri"/>
            </a:endParaRPr>
          </a:p>
        </p:txBody>
      </p:sp>
      <p:sp>
        <p:nvSpPr>
          <p:cNvPr id="279" name="Google Shape;279;p9"/>
          <p:cNvSpPr/>
          <p:nvPr/>
        </p:nvSpPr>
        <p:spPr>
          <a:xfrm>
            <a:off x="502920" y="2542032"/>
            <a:ext cx="1097280" cy="36576"/>
          </a:xfrm>
          <a:prstGeom prst="rect">
            <a:avLst/>
          </a:prstGeom>
          <a:solidFill>
            <a:srgbClr val="C8A9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9"/>
          <p:cNvSpPr/>
          <p:nvPr/>
        </p:nvSpPr>
        <p:spPr>
          <a:xfrm>
            <a:off x="502920" y="2633472"/>
            <a:ext cx="3657600" cy="192024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3D4560"/>
              </a:buClr>
              <a:buSzPts val="1100"/>
              <a:buFont typeface="Calibri"/>
              <a:buChar char="•"/>
            </a:pPr>
            <a:r>
              <a:rPr lang="en-US" sz="1100">
                <a:solidFill>
                  <a:srgbClr val="3D4560"/>
                </a:solidFill>
                <a:latin typeface="Calibri"/>
                <a:ea typeface="Calibri"/>
                <a:cs typeface="Calibri"/>
                <a:sym typeface="Calibri"/>
              </a:rPr>
              <a:t>Generative AI &amp; Creative Ethics (302 papers)</a:t>
            </a:r>
            <a:endParaRPr sz="1100">
              <a:solidFill>
                <a:schemeClr val="dk1"/>
              </a:solidFill>
              <a:latin typeface="Calibri"/>
              <a:ea typeface="Calibri"/>
              <a:cs typeface="Calibri"/>
              <a:sym typeface="Calibri"/>
            </a:endParaRPr>
          </a:p>
          <a:p>
            <a:pPr indent="-342900" lvl="0" marL="342900" marR="0" rtl="0" algn="l">
              <a:spcBef>
                <a:spcPts val="0"/>
              </a:spcBef>
              <a:spcAft>
                <a:spcPts val="0"/>
              </a:spcAft>
              <a:buClr>
                <a:srgbClr val="3D4560"/>
              </a:buClr>
              <a:buSzPts val="1100"/>
              <a:buFont typeface="Calibri"/>
              <a:buChar char="•"/>
            </a:pPr>
            <a:r>
              <a:rPr lang="en-US" sz="1100">
                <a:solidFill>
                  <a:srgbClr val="3D4560"/>
                </a:solidFill>
                <a:latin typeface="Calibri"/>
                <a:ea typeface="Calibri"/>
                <a:cs typeface="Calibri"/>
                <a:sym typeface="Calibri"/>
              </a:rPr>
              <a:t>AI &amp; Journalism / Media (163 papers)</a:t>
            </a:r>
            <a:endParaRPr sz="1100">
              <a:solidFill>
                <a:schemeClr val="dk1"/>
              </a:solidFill>
              <a:latin typeface="Calibri"/>
              <a:ea typeface="Calibri"/>
              <a:cs typeface="Calibri"/>
              <a:sym typeface="Calibri"/>
            </a:endParaRPr>
          </a:p>
          <a:p>
            <a:pPr indent="-342900" lvl="0" marL="342900" marR="0" rtl="0" algn="l">
              <a:spcBef>
                <a:spcPts val="0"/>
              </a:spcBef>
              <a:spcAft>
                <a:spcPts val="0"/>
              </a:spcAft>
              <a:buClr>
                <a:srgbClr val="3D4560"/>
              </a:buClr>
              <a:buSzPts val="1100"/>
              <a:buFont typeface="Calibri"/>
              <a:buChar char="•"/>
            </a:pPr>
            <a:r>
              <a:rPr lang="en-US" sz="1100">
                <a:solidFill>
                  <a:srgbClr val="3D4560"/>
                </a:solidFill>
                <a:latin typeface="Calibri"/>
                <a:ea typeface="Calibri"/>
                <a:cs typeface="Calibri"/>
                <a:sym typeface="Calibri"/>
              </a:rPr>
              <a:t>AI Ethics from Islamic/Religious Perspective (120 papers)</a:t>
            </a:r>
            <a:endParaRPr sz="1100">
              <a:solidFill>
                <a:schemeClr val="dk1"/>
              </a:solidFill>
              <a:latin typeface="Calibri"/>
              <a:ea typeface="Calibri"/>
              <a:cs typeface="Calibri"/>
              <a:sym typeface="Calibri"/>
            </a:endParaRPr>
          </a:p>
          <a:p>
            <a:pPr indent="-342900" lvl="0" marL="342900" marR="0" rtl="0" algn="l">
              <a:spcBef>
                <a:spcPts val="0"/>
              </a:spcBef>
              <a:spcAft>
                <a:spcPts val="0"/>
              </a:spcAft>
              <a:buClr>
                <a:srgbClr val="3D4560"/>
              </a:buClr>
              <a:buSzPts val="1100"/>
              <a:buFont typeface="Calibri"/>
              <a:buChar char="•"/>
            </a:pPr>
            <a:r>
              <a:rPr lang="en-US" sz="1100">
                <a:solidFill>
                  <a:srgbClr val="3D4560"/>
                </a:solidFill>
                <a:latin typeface="Calibri"/>
                <a:ea typeface="Calibri"/>
                <a:cs typeface="Calibri"/>
                <a:sym typeface="Calibri"/>
              </a:rPr>
              <a:t>Trust &amp; Trustworthiness in AI (98 papers)</a:t>
            </a:r>
            <a:endParaRPr sz="1100">
              <a:solidFill>
                <a:schemeClr val="dk1"/>
              </a:solidFill>
              <a:latin typeface="Calibri"/>
              <a:ea typeface="Calibri"/>
              <a:cs typeface="Calibri"/>
              <a:sym typeface="Calibri"/>
            </a:endParaRPr>
          </a:p>
          <a:p>
            <a:pPr indent="-342900" lvl="0" marL="342900" marR="0" rtl="0" algn="l">
              <a:spcBef>
                <a:spcPts val="0"/>
              </a:spcBef>
              <a:spcAft>
                <a:spcPts val="0"/>
              </a:spcAft>
              <a:buClr>
                <a:srgbClr val="3D4560"/>
              </a:buClr>
              <a:buSzPts val="1100"/>
              <a:buFont typeface="Calibri"/>
              <a:buChar char="•"/>
            </a:pPr>
            <a:r>
              <a:rPr lang="en-US" sz="1100">
                <a:solidFill>
                  <a:srgbClr val="3D4560"/>
                </a:solidFill>
                <a:latin typeface="Calibri"/>
                <a:ea typeface="Calibri"/>
                <a:cs typeface="Calibri"/>
                <a:sym typeface="Calibri"/>
              </a:rPr>
              <a:t>AI &amp; Fake News / Disinformation (87 papers)</a:t>
            </a:r>
            <a:endParaRPr sz="1100">
              <a:solidFill>
                <a:schemeClr val="dk1"/>
              </a:solidFill>
              <a:latin typeface="Calibri"/>
              <a:ea typeface="Calibri"/>
              <a:cs typeface="Calibri"/>
              <a:sym typeface="Calibri"/>
            </a:endParaRPr>
          </a:p>
          <a:p>
            <a:pPr indent="-342900" lvl="0" marL="342900" marR="0" rtl="0" algn="l">
              <a:spcBef>
                <a:spcPts val="0"/>
              </a:spcBef>
              <a:spcAft>
                <a:spcPts val="0"/>
              </a:spcAft>
              <a:buClr>
                <a:srgbClr val="3D4560"/>
              </a:buClr>
              <a:buSzPts val="1100"/>
              <a:buFont typeface="Calibri"/>
              <a:buChar char="•"/>
            </a:pPr>
            <a:r>
              <a:rPr lang="en-US" sz="1100">
                <a:solidFill>
                  <a:srgbClr val="3D4560"/>
                </a:solidFill>
                <a:latin typeface="Calibri"/>
                <a:ea typeface="Calibri"/>
                <a:cs typeface="Calibri"/>
                <a:sym typeface="Calibri"/>
              </a:rPr>
              <a:t>Autonomous Weapons &amp; Military AI (70 papers)</a:t>
            </a:r>
            <a:endParaRPr sz="1100">
              <a:solidFill>
                <a:schemeClr val="dk1"/>
              </a:solidFill>
              <a:latin typeface="Calibri"/>
              <a:ea typeface="Calibri"/>
              <a:cs typeface="Calibri"/>
              <a:sym typeface="Calibri"/>
            </a:endParaRPr>
          </a:p>
          <a:p>
            <a:pPr indent="-342900" lvl="0" marL="342900" marR="0" rtl="0" algn="l">
              <a:spcBef>
                <a:spcPts val="0"/>
              </a:spcBef>
              <a:spcAft>
                <a:spcPts val="0"/>
              </a:spcAft>
              <a:buClr>
                <a:srgbClr val="3D4560"/>
              </a:buClr>
              <a:buSzPts val="1100"/>
              <a:buFont typeface="Calibri"/>
              <a:buChar char="•"/>
            </a:pPr>
            <a:r>
              <a:rPr lang="en-US" sz="1100">
                <a:solidFill>
                  <a:srgbClr val="3D4560"/>
                </a:solidFill>
                <a:latin typeface="Calibri"/>
                <a:ea typeface="Calibri"/>
                <a:cs typeface="Calibri"/>
                <a:sym typeface="Calibri"/>
              </a:rPr>
              <a:t>Explainable AI &amp; Transparency (24 papers)</a:t>
            </a:r>
            <a:endParaRPr sz="1100">
              <a:solidFill>
                <a:schemeClr val="dk1"/>
              </a:solidFill>
              <a:latin typeface="Calibri"/>
              <a:ea typeface="Calibri"/>
              <a:cs typeface="Calibri"/>
              <a:sym typeface="Calibri"/>
            </a:endParaRPr>
          </a:p>
        </p:txBody>
      </p:sp>
      <p:sp>
        <p:nvSpPr>
          <p:cNvPr id="281" name="Google Shape;281;p9"/>
          <p:cNvSpPr/>
          <p:nvPr/>
        </p:nvSpPr>
        <p:spPr>
          <a:xfrm>
            <a:off x="4617720" y="2176272"/>
            <a:ext cx="4251960" cy="2468880"/>
          </a:xfrm>
          <a:prstGeom prst="rect">
            <a:avLst/>
          </a:prstGeom>
          <a:solidFill>
            <a:srgbClr val="FFFFFF"/>
          </a:solidFill>
          <a:ln cap="flat" cmpd="sng" w="9525">
            <a:solidFill>
              <a:srgbClr val="D0D5E0"/>
            </a:solidFill>
            <a:prstDash val="solid"/>
            <a:round/>
            <a:headEnd len="sm" w="sm" type="none"/>
            <a:tailEnd len="sm" w="sm" type="none"/>
          </a:ln>
          <a:effectLst>
            <a:outerShdw blurRad="762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2" name="Google Shape;282;p9"/>
          <p:cNvSpPr/>
          <p:nvPr/>
        </p:nvSpPr>
        <p:spPr>
          <a:xfrm>
            <a:off x="4846320" y="2267712"/>
            <a:ext cx="3794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F5E"/>
              </a:buClr>
              <a:buSzPts val="1400"/>
              <a:buFont typeface="Cambria"/>
              <a:buNone/>
            </a:pPr>
            <a:r>
              <a:rPr b="1" lang="en-US" sz="1400">
                <a:solidFill>
                  <a:srgbClr val="1B2F5E"/>
                </a:solidFill>
                <a:latin typeface="Cambria"/>
                <a:ea typeface="Cambria"/>
                <a:cs typeface="Cambria"/>
                <a:sym typeface="Cambria"/>
              </a:rPr>
              <a:t>EU Regulatory Hegemony</a:t>
            </a:r>
            <a:endParaRPr sz="1400">
              <a:solidFill>
                <a:schemeClr val="dk1"/>
              </a:solidFill>
              <a:latin typeface="Calibri"/>
              <a:ea typeface="Calibri"/>
              <a:cs typeface="Calibri"/>
              <a:sym typeface="Calibri"/>
            </a:endParaRPr>
          </a:p>
        </p:txBody>
      </p:sp>
      <p:sp>
        <p:nvSpPr>
          <p:cNvPr id="283" name="Google Shape;283;p9"/>
          <p:cNvSpPr/>
          <p:nvPr/>
        </p:nvSpPr>
        <p:spPr>
          <a:xfrm>
            <a:off x="4846320" y="2542032"/>
            <a:ext cx="1097280" cy="36576"/>
          </a:xfrm>
          <a:prstGeom prst="rect">
            <a:avLst/>
          </a:prstGeom>
          <a:solidFill>
            <a:srgbClr val="C8A9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4" name="Google Shape;284;p9"/>
          <p:cNvSpPr/>
          <p:nvPr/>
        </p:nvSpPr>
        <p:spPr>
          <a:xfrm>
            <a:off x="4846320" y="2633472"/>
            <a:ext cx="3794760" cy="1920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D4560"/>
              </a:buClr>
              <a:buSzPts val="1100"/>
              <a:buFont typeface="Calibri"/>
              <a:buNone/>
            </a:pPr>
            <a:r>
              <a:rPr lang="en-US" sz="1100">
                <a:solidFill>
                  <a:srgbClr val="3D4560"/>
                </a:solidFill>
                <a:latin typeface="Calibri"/>
                <a:ea typeface="Calibri"/>
                <a:cs typeface="Calibri"/>
                <a:sym typeface="Calibri"/>
              </a:rPr>
              <a:t>EU AI Act vocabulary has emerged as the de facto global standard — structuring discourse in countries with no binding EU obligation:</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3D4560"/>
              </a:buClr>
              <a:buSzPts val="1100"/>
              <a:buFont typeface="Calibri"/>
              <a:buNone/>
            </a:pPr>
            <a:r>
              <a:rPr lang="en-US" sz="1100">
                <a:solidFill>
                  <a:srgbClr val="3D4560"/>
                </a:solidFill>
                <a:latin typeface="Calibri"/>
                <a:ea typeface="Calibri"/>
                <a:cs typeface="Calibri"/>
                <a:sym typeface="Calibri"/>
              </a:rPr>
              <a:t> </a:t>
            </a:r>
            <a:endParaRPr sz="1100">
              <a:solidFill>
                <a:schemeClr val="dk1"/>
              </a:solidFill>
              <a:latin typeface="Calibri"/>
              <a:ea typeface="Calibri"/>
              <a:cs typeface="Calibri"/>
              <a:sym typeface="Calibri"/>
            </a:endParaRPr>
          </a:p>
          <a:p>
            <a:pPr indent="-342900" lvl="0" marL="342900" marR="0" rtl="0" algn="l">
              <a:spcBef>
                <a:spcPts val="0"/>
              </a:spcBef>
              <a:spcAft>
                <a:spcPts val="0"/>
              </a:spcAft>
              <a:buClr>
                <a:srgbClr val="3D4560"/>
              </a:buClr>
              <a:buSzPts val="1100"/>
              <a:buFont typeface="Calibri"/>
              <a:buChar char="•"/>
            </a:pPr>
            <a:r>
              <a:rPr lang="en-US" sz="1100">
                <a:solidFill>
                  <a:srgbClr val="3D4560"/>
                </a:solidFill>
                <a:latin typeface="Calibri"/>
                <a:ea typeface="Calibri"/>
                <a:cs typeface="Calibri"/>
                <a:sym typeface="Calibri"/>
              </a:rPr>
              <a:t>Zimbabwe, African Union, India (100% EU-aligned chunks)</a:t>
            </a:r>
            <a:endParaRPr sz="1100">
              <a:solidFill>
                <a:schemeClr val="dk1"/>
              </a:solidFill>
              <a:latin typeface="Calibri"/>
              <a:ea typeface="Calibri"/>
              <a:cs typeface="Calibri"/>
              <a:sym typeface="Calibri"/>
            </a:endParaRPr>
          </a:p>
          <a:p>
            <a:pPr indent="-342900" lvl="0" marL="342900" marR="0" rtl="0" algn="l">
              <a:spcBef>
                <a:spcPts val="0"/>
              </a:spcBef>
              <a:spcAft>
                <a:spcPts val="0"/>
              </a:spcAft>
              <a:buClr>
                <a:srgbClr val="3D4560"/>
              </a:buClr>
              <a:buSzPts val="1100"/>
              <a:buFont typeface="Calibri"/>
              <a:buChar char="•"/>
            </a:pPr>
            <a:r>
              <a:rPr lang="en-US" sz="1100">
                <a:solidFill>
                  <a:srgbClr val="3D4560"/>
                </a:solidFill>
                <a:latin typeface="Calibri"/>
                <a:ea typeface="Calibri"/>
                <a:cs typeface="Calibri"/>
                <a:sym typeface="Calibri"/>
              </a:rPr>
              <a:t>Kenya (97%), ASEAN members (98%)</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3D4560"/>
              </a:buClr>
              <a:buSzPts val="1100"/>
              <a:buFont typeface="Calibri"/>
              <a:buNone/>
            </a:pPr>
            <a:r>
              <a:rPr lang="en-US" sz="1100">
                <a:solidFill>
                  <a:srgbClr val="3D4560"/>
                </a:solidFill>
                <a:latin typeface="Calibri"/>
                <a:ea typeface="Calibri"/>
                <a:cs typeface="Calibri"/>
                <a:sym typeface="Calibri"/>
              </a:rPr>
              <a:t> </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3D4560"/>
              </a:buClr>
              <a:buSzPts val="1100"/>
              <a:buFont typeface="Calibri"/>
              <a:buNone/>
            </a:pPr>
            <a:r>
              <a:rPr lang="en-US" sz="1100">
                <a:solidFill>
                  <a:srgbClr val="3D4560"/>
                </a:solidFill>
                <a:latin typeface="Calibri"/>
                <a:ea typeface="Calibri"/>
                <a:cs typeface="Calibri"/>
                <a:sym typeface="Calibri"/>
              </a:rPr>
              <a:t>Exception: China, Australia, Japan, S. Korea, Colombia, Egypt show zero EU Regulation alignment — independent governance vocabularies.</a:t>
            </a:r>
            <a:endParaRPr sz="11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289" name="Shape 289"/>
        <p:cNvGrpSpPr/>
        <p:nvPr/>
      </p:nvGrpSpPr>
      <p:grpSpPr>
        <a:xfrm>
          <a:off x="0" y="0"/>
          <a:ext cx="0" cy="0"/>
          <a:chOff x="0" y="0"/>
          <a:chExt cx="0" cy="0"/>
        </a:xfrm>
      </p:grpSpPr>
      <p:sp>
        <p:nvSpPr>
          <p:cNvPr id="290" name="Google Shape;290;p11"/>
          <p:cNvSpPr/>
          <p:nvPr/>
        </p:nvSpPr>
        <p:spPr>
          <a:xfrm>
            <a:off x="0" y="0"/>
            <a:ext cx="9144000" cy="685800"/>
          </a:xfrm>
          <a:prstGeom prst="rect">
            <a:avLst/>
          </a:prstGeom>
          <a:solidFill>
            <a:srgbClr val="1B2F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1" name="Google Shape;291;p11"/>
          <p:cNvSpPr/>
          <p:nvPr/>
        </p:nvSpPr>
        <p:spPr>
          <a:xfrm>
            <a:off x="0" y="685800"/>
            <a:ext cx="9144000" cy="54864"/>
          </a:xfrm>
          <a:prstGeom prst="rect">
            <a:avLst/>
          </a:prstGeom>
          <a:solidFill>
            <a:srgbClr val="C8A9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2" name="Google Shape;292;p11"/>
          <p:cNvSpPr/>
          <p:nvPr/>
        </p:nvSpPr>
        <p:spPr>
          <a:xfrm>
            <a:off x="365760" y="0"/>
            <a:ext cx="841248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mbria"/>
              <a:buNone/>
            </a:pPr>
            <a:r>
              <a:rPr b="1" lang="en-US" sz="2600">
                <a:solidFill>
                  <a:srgbClr val="FFFFFF"/>
                </a:solidFill>
                <a:latin typeface="Cambria"/>
                <a:ea typeface="Cambria"/>
                <a:cs typeface="Cambria"/>
                <a:sym typeface="Cambria"/>
              </a:rPr>
              <a:t>Limitations &amp; Future Work</a:t>
            </a:r>
            <a:endParaRPr sz="2600">
              <a:solidFill>
                <a:schemeClr val="dk1"/>
              </a:solidFill>
              <a:latin typeface="Calibri"/>
              <a:ea typeface="Calibri"/>
              <a:cs typeface="Calibri"/>
              <a:sym typeface="Calibri"/>
            </a:endParaRPr>
          </a:p>
        </p:txBody>
      </p:sp>
      <p:sp>
        <p:nvSpPr>
          <p:cNvPr id="293" name="Google Shape;293;p11"/>
          <p:cNvSpPr/>
          <p:nvPr/>
        </p:nvSpPr>
        <p:spPr>
          <a:xfrm>
            <a:off x="0" y="5001768"/>
            <a:ext cx="9144000" cy="141732"/>
          </a:xfrm>
          <a:prstGeom prst="rect">
            <a:avLst/>
          </a:prstGeom>
          <a:solidFill>
            <a:srgbClr val="1B2F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4" name="Google Shape;294;p11"/>
          <p:cNvSpPr/>
          <p:nvPr/>
        </p:nvSpPr>
        <p:spPr>
          <a:xfrm>
            <a:off x="274320" y="5001768"/>
            <a:ext cx="8595360" cy="1417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A951"/>
              </a:buClr>
              <a:buSzPts val="900"/>
              <a:buFont typeface="Calibri"/>
              <a:buNone/>
            </a:pPr>
            <a:r>
              <a:rPr lang="en-US" sz="900">
                <a:solidFill>
                  <a:srgbClr val="C8A951"/>
                </a:solidFill>
                <a:latin typeface="Calibri"/>
                <a:ea typeface="Calibri"/>
                <a:cs typeface="Calibri"/>
                <a:sym typeface="Calibri"/>
              </a:rPr>
              <a:t>Global AI Governance Narratives  |  Charumbira &amp; Gray  |  GWU CCAS  |  Spring 2026</a:t>
            </a:r>
            <a:endParaRPr sz="900">
              <a:solidFill>
                <a:schemeClr val="dk1"/>
              </a:solidFill>
              <a:latin typeface="Calibri"/>
              <a:ea typeface="Calibri"/>
              <a:cs typeface="Calibri"/>
              <a:sym typeface="Calibri"/>
            </a:endParaRPr>
          </a:p>
        </p:txBody>
      </p:sp>
      <p:sp>
        <p:nvSpPr>
          <p:cNvPr id="295" name="Google Shape;295;p11"/>
          <p:cNvSpPr/>
          <p:nvPr/>
        </p:nvSpPr>
        <p:spPr>
          <a:xfrm>
            <a:off x="274320" y="914400"/>
            <a:ext cx="4846320" cy="3794760"/>
          </a:xfrm>
          <a:prstGeom prst="rect">
            <a:avLst/>
          </a:prstGeom>
          <a:solidFill>
            <a:srgbClr val="FFFFFF"/>
          </a:solidFill>
          <a:ln cap="flat" cmpd="sng" w="9525">
            <a:solidFill>
              <a:srgbClr val="D0D5E0"/>
            </a:solidFill>
            <a:prstDash val="solid"/>
            <a:round/>
            <a:headEnd len="sm" w="sm" type="none"/>
            <a:tailEnd len="sm" w="sm" type="none"/>
          </a:ln>
          <a:effectLst>
            <a:outerShdw blurRad="762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6" name="Google Shape;296;p11"/>
          <p:cNvSpPr/>
          <p:nvPr/>
        </p:nvSpPr>
        <p:spPr>
          <a:xfrm>
            <a:off x="502920" y="1005840"/>
            <a:ext cx="4389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F5E"/>
              </a:buClr>
              <a:buSzPts val="1400"/>
              <a:buFont typeface="Cambria"/>
              <a:buNone/>
            </a:pPr>
            <a:r>
              <a:rPr b="1" lang="en-US" sz="1400">
                <a:solidFill>
                  <a:srgbClr val="1B2F5E"/>
                </a:solidFill>
                <a:latin typeface="Cambria"/>
                <a:ea typeface="Cambria"/>
                <a:cs typeface="Cambria"/>
                <a:sym typeface="Cambria"/>
              </a:rPr>
              <a:t>Current Limitations</a:t>
            </a:r>
            <a:endParaRPr sz="1400">
              <a:solidFill>
                <a:schemeClr val="dk1"/>
              </a:solidFill>
              <a:latin typeface="Calibri"/>
              <a:ea typeface="Calibri"/>
              <a:cs typeface="Calibri"/>
              <a:sym typeface="Calibri"/>
            </a:endParaRPr>
          </a:p>
        </p:txBody>
      </p:sp>
      <p:sp>
        <p:nvSpPr>
          <p:cNvPr id="297" name="Google Shape;297;p11"/>
          <p:cNvSpPr/>
          <p:nvPr/>
        </p:nvSpPr>
        <p:spPr>
          <a:xfrm>
            <a:off x="502920" y="1280160"/>
            <a:ext cx="914400" cy="36576"/>
          </a:xfrm>
          <a:prstGeom prst="rect">
            <a:avLst/>
          </a:prstGeom>
          <a:solidFill>
            <a:srgbClr val="C8A9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8" name="Google Shape;298;p11"/>
          <p:cNvSpPr/>
          <p:nvPr/>
        </p:nvSpPr>
        <p:spPr>
          <a:xfrm>
            <a:off x="502920" y="1417320"/>
            <a:ext cx="43891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4560"/>
              </a:buClr>
              <a:buSzPts val="1150"/>
              <a:buFont typeface="Calibri"/>
              <a:buNone/>
            </a:pPr>
            <a:r>
              <a:rPr b="1" lang="en-US" sz="1150">
                <a:solidFill>
                  <a:srgbClr val="3D4560"/>
                </a:solidFill>
                <a:latin typeface="Calibri"/>
                <a:ea typeface="Calibri"/>
                <a:cs typeface="Calibri"/>
                <a:sym typeface="Calibri"/>
              </a:rPr>
              <a:t>1. Subjectivity in Governance Scoring: </a:t>
            </a:r>
            <a:r>
              <a:rPr lang="en-US" sz="1150">
                <a:solidFill>
                  <a:srgbClr val="3D4560"/>
                </a:solidFill>
                <a:latin typeface="Calibri"/>
                <a:ea typeface="Calibri"/>
                <a:cs typeface="Calibri"/>
                <a:sym typeface="Calibri"/>
              </a:rPr>
              <a:t>Expert coding of governance relevance involves judgment; alternative scoring thresholds could modestly alter topic composition.</a:t>
            </a:r>
            <a:endParaRPr sz="1150">
              <a:solidFill>
                <a:schemeClr val="dk1"/>
              </a:solidFill>
              <a:latin typeface="Calibri"/>
              <a:ea typeface="Calibri"/>
              <a:cs typeface="Calibri"/>
              <a:sym typeface="Calibri"/>
            </a:endParaRPr>
          </a:p>
        </p:txBody>
      </p:sp>
      <p:sp>
        <p:nvSpPr>
          <p:cNvPr id="299" name="Google Shape;299;p11"/>
          <p:cNvSpPr/>
          <p:nvPr/>
        </p:nvSpPr>
        <p:spPr>
          <a:xfrm>
            <a:off x="502920" y="2075688"/>
            <a:ext cx="43891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4560"/>
              </a:buClr>
              <a:buSzPts val="1150"/>
              <a:buFont typeface="Calibri"/>
              <a:buNone/>
            </a:pPr>
            <a:r>
              <a:rPr b="1" lang="en-US" sz="1150">
                <a:solidFill>
                  <a:srgbClr val="3D4560"/>
                </a:solidFill>
                <a:latin typeface="Calibri"/>
                <a:ea typeface="Calibri"/>
                <a:cs typeface="Calibri"/>
                <a:sym typeface="Calibri"/>
              </a:rPr>
              <a:t>2. Policy Chunk Assignment: </a:t>
            </a:r>
            <a:r>
              <a:rPr lang="en-US" sz="1150">
                <a:solidFill>
                  <a:srgbClr val="3D4560"/>
                </a:solidFill>
                <a:latin typeface="Calibri"/>
                <a:ea typeface="Calibri"/>
                <a:cs typeface="Calibri"/>
                <a:sym typeface="Calibri"/>
              </a:rPr>
              <a:t>Catch-all topic assignment used keyword-based matching — less precise than embedding-based semantic methods.</a:t>
            </a:r>
            <a:endParaRPr sz="1150">
              <a:solidFill>
                <a:schemeClr val="dk1"/>
              </a:solidFill>
              <a:latin typeface="Calibri"/>
              <a:ea typeface="Calibri"/>
              <a:cs typeface="Calibri"/>
              <a:sym typeface="Calibri"/>
            </a:endParaRPr>
          </a:p>
        </p:txBody>
      </p:sp>
      <p:sp>
        <p:nvSpPr>
          <p:cNvPr id="300" name="Google Shape;300;p11"/>
          <p:cNvSpPr/>
          <p:nvPr/>
        </p:nvSpPr>
        <p:spPr>
          <a:xfrm>
            <a:off x="502920" y="2734056"/>
            <a:ext cx="43891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4560"/>
              </a:buClr>
              <a:buSzPts val="1150"/>
              <a:buFont typeface="Calibri"/>
              <a:buNone/>
            </a:pPr>
            <a:r>
              <a:rPr b="1" lang="en-US" sz="1150">
                <a:solidFill>
                  <a:srgbClr val="3D4560"/>
                </a:solidFill>
                <a:latin typeface="Calibri"/>
                <a:ea typeface="Calibri"/>
                <a:cs typeface="Calibri"/>
                <a:sym typeface="Calibri"/>
              </a:rPr>
              <a:t>3. Abstract-Level Stance Only: </a:t>
            </a:r>
            <a:r>
              <a:rPr lang="en-US" sz="1150">
                <a:solidFill>
                  <a:srgbClr val="3D4560"/>
                </a:solidFill>
                <a:latin typeface="Calibri"/>
                <a:ea typeface="Calibri"/>
                <a:cs typeface="Calibri"/>
                <a:sym typeface="Calibri"/>
              </a:rPr>
              <a:t>Stance classification on abstracts cannot capture the full argumentative complexity of full-text papers.</a:t>
            </a:r>
            <a:endParaRPr sz="1150">
              <a:solidFill>
                <a:schemeClr val="dk1"/>
              </a:solidFill>
              <a:latin typeface="Calibri"/>
              <a:ea typeface="Calibri"/>
              <a:cs typeface="Calibri"/>
              <a:sym typeface="Calibri"/>
            </a:endParaRPr>
          </a:p>
        </p:txBody>
      </p:sp>
      <p:sp>
        <p:nvSpPr>
          <p:cNvPr id="301" name="Google Shape;301;p11"/>
          <p:cNvSpPr/>
          <p:nvPr/>
        </p:nvSpPr>
        <p:spPr>
          <a:xfrm>
            <a:off x="502920" y="3392424"/>
            <a:ext cx="43891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4560"/>
              </a:buClr>
              <a:buSzPts val="1150"/>
              <a:buFont typeface="Calibri"/>
              <a:buNone/>
            </a:pPr>
            <a:r>
              <a:rPr b="1" lang="en-US" sz="1150">
                <a:solidFill>
                  <a:srgbClr val="3D4560"/>
                </a:solidFill>
                <a:latin typeface="Calibri"/>
                <a:ea typeface="Calibri"/>
                <a:cs typeface="Calibri"/>
                <a:sym typeface="Calibri"/>
              </a:rPr>
              <a:t>4. Confidence Threshold Inflation: </a:t>
            </a:r>
            <a:r>
              <a:rPr lang="en-US" sz="1150">
                <a:solidFill>
                  <a:srgbClr val="3D4560"/>
                </a:solidFill>
                <a:latin typeface="Calibri"/>
                <a:ea typeface="Calibri"/>
                <a:cs typeface="Calibri"/>
                <a:sym typeface="Calibri"/>
              </a:rPr>
              <a:t>808 papers (25.4%) fell below the 0.45 confidence threshold and were reassigned to 'balanced,' potentially inflating that category.</a:t>
            </a:r>
            <a:endParaRPr sz="1150">
              <a:solidFill>
                <a:schemeClr val="dk1"/>
              </a:solidFill>
              <a:latin typeface="Calibri"/>
              <a:ea typeface="Calibri"/>
              <a:cs typeface="Calibri"/>
              <a:sym typeface="Calibri"/>
            </a:endParaRPr>
          </a:p>
        </p:txBody>
      </p:sp>
      <p:sp>
        <p:nvSpPr>
          <p:cNvPr id="302" name="Google Shape;302;p11"/>
          <p:cNvSpPr/>
          <p:nvPr/>
        </p:nvSpPr>
        <p:spPr>
          <a:xfrm>
            <a:off x="502920" y="4050792"/>
            <a:ext cx="43891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4560"/>
              </a:buClr>
              <a:buSzPts val="1150"/>
              <a:buFont typeface="Calibri"/>
              <a:buNone/>
            </a:pPr>
            <a:r>
              <a:rPr b="1" lang="en-US" sz="1150">
                <a:solidFill>
                  <a:srgbClr val="3D4560"/>
                </a:solidFill>
                <a:latin typeface="Calibri"/>
                <a:ea typeface="Calibri"/>
                <a:cs typeface="Calibri"/>
                <a:sym typeface="Calibri"/>
              </a:rPr>
              <a:t>5. Vocabulary Divergence: </a:t>
            </a:r>
            <a:r>
              <a:rPr lang="en-US" sz="1150">
                <a:solidFill>
                  <a:srgbClr val="3D4560"/>
                </a:solidFill>
                <a:latin typeface="Calibri"/>
                <a:ea typeface="Calibri"/>
                <a:cs typeface="Calibri"/>
                <a:sym typeface="Calibri"/>
              </a:rPr>
              <a:t>Keyword-based cross-corpus alignment may miss policy topics expressed under different terminology (e.g., 'trustworthy AI' vs. 'trust in AI').</a:t>
            </a:r>
            <a:endParaRPr sz="1150">
              <a:solidFill>
                <a:schemeClr val="dk1"/>
              </a:solidFill>
              <a:latin typeface="Calibri"/>
              <a:ea typeface="Calibri"/>
              <a:cs typeface="Calibri"/>
              <a:sym typeface="Calibri"/>
            </a:endParaRPr>
          </a:p>
        </p:txBody>
      </p:sp>
      <p:sp>
        <p:nvSpPr>
          <p:cNvPr id="303" name="Google Shape;303;p11"/>
          <p:cNvSpPr/>
          <p:nvPr/>
        </p:nvSpPr>
        <p:spPr>
          <a:xfrm>
            <a:off x="5349240" y="914400"/>
            <a:ext cx="3520440" cy="3794760"/>
          </a:xfrm>
          <a:prstGeom prst="rect">
            <a:avLst/>
          </a:prstGeom>
          <a:solidFill>
            <a:srgbClr val="FFFFFF"/>
          </a:solidFill>
          <a:ln cap="flat" cmpd="sng" w="9525">
            <a:solidFill>
              <a:srgbClr val="D0D5E0"/>
            </a:solidFill>
            <a:prstDash val="solid"/>
            <a:round/>
            <a:headEnd len="sm" w="sm" type="none"/>
            <a:tailEnd len="sm" w="sm" type="none"/>
          </a:ln>
          <a:effectLst>
            <a:outerShdw blurRad="762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4" name="Google Shape;304;p11"/>
          <p:cNvSpPr/>
          <p:nvPr/>
        </p:nvSpPr>
        <p:spPr>
          <a:xfrm>
            <a:off x="5577840" y="1005840"/>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F5E"/>
              </a:buClr>
              <a:buSzPts val="1400"/>
              <a:buFont typeface="Cambria"/>
              <a:buNone/>
            </a:pPr>
            <a:r>
              <a:rPr b="1" lang="en-US" sz="1400">
                <a:solidFill>
                  <a:srgbClr val="1B2F5E"/>
                </a:solidFill>
                <a:latin typeface="Cambria"/>
                <a:ea typeface="Cambria"/>
                <a:cs typeface="Cambria"/>
                <a:sym typeface="Cambria"/>
              </a:rPr>
              <a:t>Future Research Directions</a:t>
            </a:r>
            <a:endParaRPr sz="1400">
              <a:solidFill>
                <a:schemeClr val="dk1"/>
              </a:solidFill>
              <a:latin typeface="Calibri"/>
              <a:ea typeface="Calibri"/>
              <a:cs typeface="Calibri"/>
              <a:sym typeface="Calibri"/>
            </a:endParaRPr>
          </a:p>
        </p:txBody>
      </p:sp>
      <p:sp>
        <p:nvSpPr>
          <p:cNvPr id="305" name="Google Shape;305;p11"/>
          <p:cNvSpPr/>
          <p:nvPr/>
        </p:nvSpPr>
        <p:spPr>
          <a:xfrm>
            <a:off x="5577840" y="1280160"/>
            <a:ext cx="914400" cy="36576"/>
          </a:xfrm>
          <a:prstGeom prst="rect">
            <a:avLst/>
          </a:prstGeom>
          <a:solidFill>
            <a:srgbClr val="C8A9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6" name="Google Shape;306;p11"/>
          <p:cNvSpPr/>
          <p:nvPr/>
        </p:nvSpPr>
        <p:spPr>
          <a:xfrm>
            <a:off x="5577840" y="1417320"/>
            <a:ext cx="3108960" cy="32004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3D4560"/>
              </a:buClr>
              <a:buSzPts val="1200"/>
              <a:buFont typeface="Calibri"/>
              <a:buChar char="•"/>
            </a:pPr>
            <a:r>
              <a:rPr lang="en-US" sz="1200">
                <a:solidFill>
                  <a:srgbClr val="3D4560"/>
                </a:solidFill>
                <a:latin typeface="Calibri"/>
                <a:ea typeface="Calibri"/>
                <a:cs typeface="Calibri"/>
                <a:sym typeface="Calibri"/>
              </a:rPr>
              <a:t>Cross-register semantic alignment (embedding-based) for policy–academic comparison</a:t>
            </a:r>
            <a:endParaRPr sz="1200">
              <a:solidFill>
                <a:schemeClr val="dk1"/>
              </a:solidFill>
              <a:latin typeface="Calibri"/>
              <a:ea typeface="Calibri"/>
              <a:cs typeface="Calibri"/>
              <a:sym typeface="Calibri"/>
            </a:endParaRPr>
          </a:p>
          <a:p>
            <a:pPr indent="-342900" lvl="0" marL="342900" marR="0" rtl="0" algn="l">
              <a:spcBef>
                <a:spcPts val="0"/>
              </a:spcBef>
              <a:spcAft>
                <a:spcPts val="0"/>
              </a:spcAft>
              <a:buClr>
                <a:srgbClr val="3D4560"/>
              </a:buClr>
              <a:buSzPts val="1200"/>
              <a:buFont typeface="Calibri"/>
              <a:buChar char="•"/>
            </a:pPr>
            <a:r>
              <a:rPr lang="en-US" sz="1200">
                <a:solidFill>
                  <a:srgbClr val="3D4560"/>
                </a:solidFill>
                <a:latin typeface="Calibri"/>
                <a:ea typeface="Calibri"/>
                <a:cs typeface="Calibri"/>
                <a:sym typeface="Calibri"/>
              </a:rPr>
              <a:t>Full-text analysis beyond abstract-level stance classification</a:t>
            </a:r>
            <a:endParaRPr sz="1200">
              <a:solidFill>
                <a:schemeClr val="dk1"/>
              </a:solidFill>
              <a:latin typeface="Calibri"/>
              <a:ea typeface="Calibri"/>
              <a:cs typeface="Calibri"/>
              <a:sym typeface="Calibri"/>
            </a:endParaRPr>
          </a:p>
          <a:p>
            <a:pPr indent="-342900" lvl="0" marL="342900" marR="0" rtl="0" algn="l">
              <a:spcBef>
                <a:spcPts val="0"/>
              </a:spcBef>
              <a:spcAft>
                <a:spcPts val="0"/>
              </a:spcAft>
              <a:buClr>
                <a:srgbClr val="3D4560"/>
              </a:buClr>
              <a:buSzPts val="1200"/>
              <a:buFont typeface="Calibri"/>
              <a:buChar char="•"/>
            </a:pPr>
            <a:r>
              <a:rPr lang="en-US" sz="1200">
                <a:solidFill>
                  <a:srgbClr val="3D4560"/>
                </a:solidFill>
                <a:latin typeface="Calibri"/>
                <a:ea typeface="Calibri"/>
                <a:cs typeface="Calibri"/>
                <a:sym typeface="Calibri"/>
              </a:rPr>
              <a:t>Human-coded validation of stance labels for a representative sample</a:t>
            </a:r>
            <a:endParaRPr sz="1200">
              <a:solidFill>
                <a:schemeClr val="dk1"/>
              </a:solidFill>
              <a:latin typeface="Calibri"/>
              <a:ea typeface="Calibri"/>
              <a:cs typeface="Calibri"/>
              <a:sym typeface="Calibri"/>
            </a:endParaRPr>
          </a:p>
          <a:p>
            <a:pPr indent="-342900" lvl="0" marL="342900" marR="0" rtl="0" algn="l">
              <a:spcBef>
                <a:spcPts val="0"/>
              </a:spcBef>
              <a:spcAft>
                <a:spcPts val="0"/>
              </a:spcAft>
              <a:buClr>
                <a:srgbClr val="3D4560"/>
              </a:buClr>
              <a:buSzPts val="1200"/>
              <a:buFont typeface="Calibri"/>
              <a:buChar char="•"/>
            </a:pPr>
            <a:r>
              <a:rPr lang="en-US" sz="1200">
                <a:solidFill>
                  <a:srgbClr val="3D4560"/>
                </a:solidFill>
                <a:latin typeface="Calibri"/>
                <a:ea typeface="Calibri"/>
                <a:cs typeface="Calibri"/>
                <a:sym typeface="Calibri"/>
              </a:rPr>
              <a:t>Multilingual corpus expansion to capture non-English governance discourse</a:t>
            </a:r>
            <a:endParaRPr sz="1200">
              <a:solidFill>
                <a:schemeClr val="dk1"/>
              </a:solidFill>
              <a:latin typeface="Calibri"/>
              <a:ea typeface="Calibri"/>
              <a:cs typeface="Calibri"/>
              <a:sym typeface="Calibri"/>
            </a:endParaRPr>
          </a:p>
          <a:p>
            <a:pPr indent="-342900" lvl="0" marL="342900" marR="0" rtl="0" algn="l">
              <a:spcBef>
                <a:spcPts val="0"/>
              </a:spcBef>
              <a:spcAft>
                <a:spcPts val="0"/>
              </a:spcAft>
              <a:buClr>
                <a:srgbClr val="3D4560"/>
              </a:buClr>
              <a:buSzPts val="1200"/>
              <a:buFont typeface="Calibri"/>
              <a:buChar char="•"/>
            </a:pPr>
            <a:r>
              <a:rPr lang="en-US" sz="1200">
                <a:solidFill>
                  <a:srgbClr val="3D4560"/>
                </a:solidFill>
                <a:latin typeface="Calibri"/>
                <a:ea typeface="Calibri"/>
                <a:cs typeface="Calibri"/>
                <a:sym typeface="Calibri"/>
              </a:rPr>
              <a:t>Longitudinal monitoring using the open-source pipeline as new documents emerge</a:t>
            </a:r>
            <a:endParaRPr sz="12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311" name="Shape 311"/>
        <p:cNvGrpSpPr/>
        <p:nvPr/>
      </p:nvGrpSpPr>
      <p:grpSpPr>
        <a:xfrm>
          <a:off x="0" y="0"/>
          <a:ext cx="0" cy="0"/>
          <a:chOff x="0" y="0"/>
          <a:chExt cx="0" cy="0"/>
        </a:xfrm>
      </p:grpSpPr>
      <p:sp>
        <p:nvSpPr>
          <p:cNvPr id="312" name="Google Shape;312;p12"/>
          <p:cNvSpPr/>
          <p:nvPr/>
        </p:nvSpPr>
        <p:spPr>
          <a:xfrm>
            <a:off x="0" y="0"/>
            <a:ext cx="9144000" cy="685800"/>
          </a:xfrm>
          <a:prstGeom prst="rect">
            <a:avLst/>
          </a:prstGeom>
          <a:solidFill>
            <a:srgbClr val="1B2F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3" name="Google Shape;313;p12"/>
          <p:cNvSpPr/>
          <p:nvPr/>
        </p:nvSpPr>
        <p:spPr>
          <a:xfrm>
            <a:off x="0" y="685800"/>
            <a:ext cx="9144000" cy="54900"/>
          </a:xfrm>
          <a:prstGeom prst="rect">
            <a:avLst/>
          </a:prstGeom>
          <a:solidFill>
            <a:srgbClr val="C8A9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4" name="Google Shape;314;p12"/>
          <p:cNvSpPr/>
          <p:nvPr/>
        </p:nvSpPr>
        <p:spPr>
          <a:xfrm>
            <a:off x="457200" y="0"/>
            <a:ext cx="8229600" cy="74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lang="en-US" sz="3000">
                <a:solidFill>
                  <a:srgbClr val="FFFFFF"/>
                </a:solidFill>
                <a:latin typeface="Cambria"/>
                <a:ea typeface="Cambria"/>
                <a:cs typeface="Cambria"/>
                <a:sym typeface="Cambria"/>
              </a:rPr>
              <a:t>Conclusion</a:t>
            </a:r>
            <a:endParaRPr sz="3000">
              <a:solidFill>
                <a:schemeClr val="dk1"/>
              </a:solidFill>
              <a:latin typeface="Calibri"/>
              <a:ea typeface="Calibri"/>
              <a:cs typeface="Calibri"/>
              <a:sym typeface="Calibri"/>
            </a:endParaRPr>
          </a:p>
        </p:txBody>
      </p:sp>
      <p:sp>
        <p:nvSpPr>
          <p:cNvPr id="315" name="Google Shape;315;p12"/>
          <p:cNvSpPr/>
          <p:nvPr/>
        </p:nvSpPr>
        <p:spPr>
          <a:xfrm>
            <a:off x="365760" y="960120"/>
            <a:ext cx="8412480" cy="1078992"/>
          </a:xfrm>
          <a:prstGeom prst="rect">
            <a:avLst/>
          </a:prstGeom>
          <a:solidFill>
            <a:srgbClr val="24377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6" name="Google Shape;316;p12"/>
          <p:cNvSpPr/>
          <p:nvPr/>
        </p:nvSpPr>
        <p:spPr>
          <a:xfrm>
            <a:off x="365760" y="960120"/>
            <a:ext cx="777240" cy="1078992"/>
          </a:xfrm>
          <a:prstGeom prst="rect">
            <a:avLst/>
          </a:prstGeom>
          <a:solidFill>
            <a:srgbClr val="C8A9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7" name="Google Shape;317;p12"/>
          <p:cNvSpPr/>
          <p:nvPr/>
        </p:nvSpPr>
        <p:spPr>
          <a:xfrm>
            <a:off x="365760" y="960120"/>
            <a:ext cx="777240" cy="1078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F5E"/>
              </a:buClr>
              <a:buSzPts val="1400"/>
              <a:buFont typeface="Cambria"/>
              <a:buNone/>
            </a:pPr>
            <a:r>
              <a:rPr b="1" lang="en-US" sz="1400">
                <a:solidFill>
                  <a:srgbClr val="1B2F5E"/>
                </a:solidFill>
                <a:latin typeface="Cambria"/>
                <a:ea typeface="Cambria"/>
                <a:cs typeface="Cambria"/>
                <a:sym typeface="Cambria"/>
              </a:rPr>
              <a:t>RO1</a:t>
            </a:r>
            <a:endParaRPr sz="1400">
              <a:solidFill>
                <a:schemeClr val="dk1"/>
              </a:solidFill>
              <a:latin typeface="Calibri"/>
              <a:ea typeface="Calibri"/>
              <a:cs typeface="Calibri"/>
              <a:sym typeface="Calibri"/>
            </a:endParaRPr>
          </a:p>
        </p:txBody>
      </p:sp>
      <p:sp>
        <p:nvSpPr>
          <p:cNvPr id="318" name="Google Shape;318;p12"/>
          <p:cNvSpPr/>
          <p:nvPr/>
        </p:nvSpPr>
        <p:spPr>
          <a:xfrm>
            <a:off x="1280160" y="1042416"/>
            <a:ext cx="73152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lang="en-US" sz="1300">
                <a:solidFill>
                  <a:srgbClr val="FFFFFF"/>
                </a:solidFill>
                <a:latin typeface="Calibri"/>
                <a:ea typeface="Calibri"/>
                <a:cs typeface="Calibri"/>
                <a:sym typeface="Calibri"/>
              </a:rPr>
              <a:t>Only 7.8% of AI research addresses governance. Post-ChatGPT, scholarship surged while shifting to opportunity-framing (40.0% vs 29.4% risk) — suggesting a maturation toward institutional design.</a:t>
            </a:r>
            <a:endParaRPr sz="1300">
              <a:solidFill>
                <a:schemeClr val="dk1"/>
              </a:solidFill>
              <a:latin typeface="Calibri"/>
              <a:ea typeface="Calibri"/>
              <a:cs typeface="Calibri"/>
              <a:sym typeface="Calibri"/>
            </a:endParaRPr>
          </a:p>
        </p:txBody>
      </p:sp>
      <p:sp>
        <p:nvSpPr>
          <p:cNvPr id="319" name="Google Shape;319;p12"/>
          <p:cNvSpPr/>
          <p:nvPr/>
        </p:nvSpPr>
        <p:spPr>
          <a:xfrm>
            <a:off x="365760" y="2194560"/>
            <a:ext cx="8412480" cy="1078992"/>
          </a:xfrm>
          <a:prstGeom prst="rect">
            <a:avLst/>
          </a:prstGeom>
          <a:solidFill>
            <a:srgbClr val="24377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0" name="Google Shape;320;p12"/>
          <p:cNvSpPr/>
          <p:nvPr/>
        </p:nvSpPr>
        <p:spPr>
          <a:xfrm>
            <a:off x="365760" y="2194560"/>
            <a:ext cx="777240" cy="1078992"/>
          </a:xfrm>
          <a:prstGeom prst="rect">
            <a:avLst/>
          </a:prstGeom>
          <a:solidFill>
            <a:srgbClr val="C8A9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1" name="Google Shape;321;p12"/>
          <p:cNvSpPr/>
          <p:nvPr/>
        </p:nvSpPr>
        <p:spPr>
          <a:xfrm>
            <a:off x="365760" y="2194560"/>
            <a:ext cx="777240" cy="1078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F5E"/>
              </a:buClr>
              <a:buSzPts val="1400"/>
              <a:buFont typeface="Cambria"/>
              <a:buNone/>
            </a:pPr>
            <a:r>
              <a:rPr b="1" lang="en-US" sz="1400">
                <a:solidFill>
                  <a:srgbClr val="1B2F5E"/>
                </a:solidFill>
                <a:latin typeface="Cambria"/>
                <a:ea typeface="Cambria"/>
                <a:cs typeface="Cambria"/>
                <a:sym typeface="Cambria"/>
              </a:rPr>
              <a:t>RO2</a:t>
            </a:r>
            <a:endParaRPr sz="1400">
              <a:solidFill>
                <a:schemeClr val="dk1"/>
              </a:solidFill>
              <a:latin typeface="Calibri"/>
              <a:ea typeface="Calibri"/>
              <a:cs typeface="Calibri"/>
              <a:sym typeface="Calibri"/>
            </a:endParaRPr>
          </a:p>
        </p:txBody>
      </p:sp>
      <p:sp>
        <p:nvSpPr>
          <p:cNvPr id="322" name="Google Shape;322;p12"/>
          <p:cNvSpPr/>
          <p:nvPr/>
        </p:nvSpPr>
        <p:spPr>
          <a:xfrm>
            <a:off x="1280160" y="2276856"/>
            <a:ext cx="73152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lang="en-US" sz="1300">
                <a:solidFill>
                  <a:srgbClr val="FFFFFF"/>
                </a:solidFill>
                <a:latin typeface="Calibri"/>
                <a:ea typeface="Calibri"/>
                <a:cs typeface="Calibri"/>
                <a:sym typeface="Calibri"/>
              </a:rPr>
              <a:t>Pronounced regional specialization reflects distinct vulnerability profiles. Collaboration remains concentrated in a handful of bilateral North-North pairs; Global South institutions are systematically peripheral.</a:t>
            </a:r>
            <a:endParaRPr sz="1300">
              <a:solidFill>
                <a:schemeClr val="dk1"/>
              </a:solidFill>
              <a:latin typeface="Calibri"/>
              <a:ea typeface="Calibri"/>
              <a:cs typeface="Calibri"/>
              <a:sym typeface="Calibri"/>
            </a:endParaRPr>
          </a:p>
        </p:txBody>
      </p:sp>
      <p:sp>
        <p:nvSpPr>
          <p:cNvPr id="323" name="Google Shape;323;p12"/>
          <p:cNvSpPr/>
          <p:nvPr/>
        </p:nvSpPr>
        <p:spPr>
          <a:xfrm>
            <a:off x="365760" y="3429000"/>
            <a:ext cx="8412480" cy="1078992"/>
          </a:xfrm>
          <a:prstGeom prst="rect">
            <a:avLst/>
          </a:prstGeom>
          <a:solidFill>
            <a:srgbClr val="24377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4" name="Google Shape;324;p12"/>
          <p:cNvSpPr/>
          <p:nvPr/>
        </p:nvSpPr>
        <p:spPr>
          <a:xfrm>
            <a:off x="365760" y="3429000"/>
            <a:ext cx="777240" cy="1078992"/>
          </a:xfrm>
          <a:prstGeom prst="rect">
            <a:avLst/>
          </a:prstGeom>
          <a:solidFill>
            <a:srgbClr val="C8A9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5" name="Google Shape;325;p12"/>
          <p:cNvSpPr/>
          <p:nvPr/>
        </p:nvSpPr>
        <p:spPr>
          <a:xfrm>
            <a:off x="365760" y="3429000"/>
            <a:ext cx="777240" cy="1078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F5E"/>
              </a:buClr>
              <a:buSzPts val="1400"/>
              <a:buFont typeface="Cambria"/>
              <a:buNone/>
            </a:pPr>
            <a:r>
              <a:rPr b="1" lang="en-US" sz="1400">
                <a:solidFill>
                  <a:srgbClr val="1B2F5E"/>
                </a:solidFill>
                <a:latin typeface="Cambria"/>
                <a:ea typeface="Cambria"/>
                <a:cs typeface="Cambria"/>
                <a:sym typeface="Cambria"/>
              </a:rPr>
              <a:t>RO3</a:t>
            </a:r>
            <a:endParaRPr sz="1400">
              <a:solidFill>
                <a:schemeClr val="dk1"/>
              </a:solidFill>
              <a:latin typeface="Calibri"/>
              <a:ea typeface="Calibri"/>
              <a:cs typeface="Calibri"/>
              <a:sym typeface="Calibri"/>
            </a:endParaRPr>
          </a:p>
        </p:txBody>
      </p:sp>
      <p:sp>
        <p:nvSpPr>
          <p:cNvPr id="326" name="Google Shape;326;p12"/>
          <p:cNvSpPr/>
          <p:nvPr/>
        </p:nvSpPr>
        <p:spPr>
          <a:xfrm>
            <a:off x="1280160" y="3511296"/>
            <a:ext cx="73152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lang="en-US" sz="1300">
                <a:solidFill>
                  <a:srgbClr val="FFFFFF"/>
                </a:solidFill>
                <a:latin typeface="Calibri"/>
                <a:ea typeface="Calibri"/>
                <a:cs typeface="Calibri"/>
                <a:sym typeface="Calibri"/>
              </a:rPr>
              <a:t>11 governance themes present in academic discourse are absent from national AI strategies. EU regulatory vocabulary has achieved substantial but not universal dominance globally.</a:t>
            </a:r>
            <a:endParaRPr sz="13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331" name="Shape 331"/>
        <p:cNvGrpSpPr/>
        <p:nvPr/>
      </p:nvGrpSpPr>
      <p:grpSpPr>
        <a:xfrm>
          <a:off x="0" y="0"/>
          <a:ext cx="0" cy="0"/>
          <a:chOff x="0" y="0"/>
          <a:chExt cx="0" cy="0"/>
        </a:xfrm>
      </p:grpSpPr>
      <p:sp>
        <p:nvSpPr>
          <p:cNvPr id="332" name="Google Shape;332;p13"/>
          <p:cNvSpPr/>
          <p:nvPr/>
        </p:nvSpPr>
        <p:spPr>
          <a:xfrm>
            <a:off x="0" y="0"/>
            <a:ext cx="9144000" cy="685800"/>
          </a:xfrm>
          <a:prstGeom prst="rect">
            <a:avLst/>
          </a:prstGeom>
          <a:solidFill>
            <a:srgbClr val="1B2F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3" name="Google Shape;333;p13"/>
          <p:cNvSpPr/>
          <p:nvPr/>
        </p:nvSpPr>
        <p:spPr>
          <a:xfrm>
            <a:off x="0" y="685800"/>
            <a:ext cx="9144000" cy="54864"/>
          </a:xfrm>
          <a:prstGeom prst="rect">
            <a:avLst/>
          </a:prstGeom>
          <a:solidFill>
            <a:srgbClr val="C8A9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4" name="Google Shape;334;p13"/>
          <p:cNvSpPr/>
          <p:nvPr/>
        </p:nvSpPr>
        <p:spPr>
          <a:xfrm>
            <a:off x="365760" y="0"/>
            <a:ext cx="841248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mbria"/>
              <a:buNone/>
            </a:pPr>
            <a:r>
              <a:rPr b="1" lang="en-US" sz="2600">
                <a:solidFill>
                  <a:srgbClr val="FFFFFF"/>
                </a:solidFill>
                <a:latin typeface="Cambria"/>
                <a:ea typeface="Cambria"/>
                <a:cs typeface="Cambria"/>
                <a:sym typeface="Cambria"/>
              </a:rPr>
              <a:t>References &amp; Q&amp;A</a:t>
            </a:r>
            <a:endParaRPr sz="2600">
              <a:solidFill>
                <a:schemeClr val="dk1"/>
              </a:solidFill>
              <a:latin typeface="Calibri"/>
              <a:ea typeface="Calibri"/>
              <a:cs typeface="Calibri"/>
              <a:sym typeface="Calibri"/>
            </a:endParaRPr>
          </a:p>
        </p:txBody>
      </p:sp>
      <p:sp>
        <p:nvSpPr>
          <p:cNvPr id="335" name="Google Shape;335;p13"/>
          <p:cNvSpPr/>
          <p:nvPr/>
        </p:nvSpPr>
        <p:spPr>
          <a:xfrm>
            <a:off x="0" y="5001768"/>
            <a:ext cx="9144000" cy="141732"/>
          </a:xfrm>
          <a:prstGeom prst="rect">
            <a:avLst/>
          </a:prstGeom>
          <a:solidFill>
            <a:srgbClr val="1B2F5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6" name="Google Shape;336;p13"/>
          <p:cNvSpPr/>
          <p:nvPr/>
        </p:nvSpPr>
        <p:spPr>
          <a:xfrm>
            <a:off x="274320" y="5001768"/>
            <a:ext cx="8595360" cy="1417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A951"/>
              </a:buClr>
              <a:buSzPts val="900"/>
              <a:buFont typeface="Calibri"/>
              <a:buNone/>
            </a:pPr>
            <a:r>
              <a:rPr lang="en-US" sz="900">
                <a:solidFill>
                  <a:srgbClr val="C8A951"/>
                </a:solidFill>
                <a:latin typeface="Calibri"/>
                <a:ea typeface="Calibri"/>
                <a:cs typeface="Calibri"/>
                <a:sym typeface="Calibri"/>
              </a:rPr>
              <a:t>Global AI Governance Narratives  |  Charumbira &amp; Gray  |  GWU CCAS  |  Spring 2026</a:t>
            </a:r>
            <a:endParaRPr sz="900">
              <a:solidFill>
                <a:schemeClr val="dk1"/>
              </a:solidFill>
              <a:latin typeface="Calibri"/>
              <a:ea typeface="Calibri"/>
              <a:cs typeface="Calibri"/>
              <a:sym typeface="Calibri"/>
            </a:endParaRPr>
          </a:p>
        </p:txBody>
      </p:sp>
      <p:sp>
        <p:nvSpPr>
          <p:cNvPr id="337" name="Google Shape;337;p13"/>
          <p:cNvSpPr/>
          <p:nvPr/>
        </p:nvSpPr>
        <p:spPr>
          <a:xfrm>
            <a:off x="274320" y="914400"/>
            <a:ext cx="4206240" cy="3794760"/>
          </a:xfrm>
          <a:prstGeom prst="rect">
            <a:avLst/>
          </a:prstGeom>
          <a:solidFill>
            <a:srgbClr val="FFFFFF"/>
          </a:solidFill>
          <a:ln cap="flat" cmpd="sng" w="9525">
            <a:solidFill>
              <a:srgbClr val="D0D5E0"/>
            </a:solidFill>
            <a:prstDash val="solid"/>
            <a:round/>
            <a:headEnd len="sm" w="sm" type="none"/>
            <a:tailEnd len="sm" w="sm" type="none"/>
          </a:ln>
          <a:effectLst>
            <a:outerShdw blurRad="762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8" name="Google Shape;338;p13"/>
          <p:cNvSpPr/>
          <p:nvPr/>
        </p:nvSpPr>
        <p:spPr>
          <a:xfrm>
            <a:off x="457200" y="1005840"/>
            <a:ext cx="3840480" cy="36576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3D4560"/>
              </a:buClr>
              <a:buSzPts val="950"/>
              <a:buFont typeface="Calibri"/>
              <a:buChar char="•"/>
            </a:pPr>
            <a:r>
              <a:rPr lang="en-US" sz="950">
                <a:solidFill>
                  <a:srgbClr val="3D4560"/>
                </a:solidFill>
                <a:latin typeface="Calibri"/>
                <a:ea typeface="Calibri"/>
                <a:cs typeface="Calibri"/>
                <a:sym typeface="Calibri"/>
              </a:rPr>
              <a:t>Bietti, E. (2020). From ethics washing to ethics bashing. Proc. FAccT, 210–219.</a:t>
            </a:r>
            <a:endParaRPr sz="950">
              <a:solidFill>
                <a:schemeClr val="dk1"/>
              </a:solidFill>
              <a:latin typeface="Calibri"/>
              <a:ea typeface="Calibri"/>
              <a:cs typeface="Calibri"/>
              <a:sym typeface="Calibri"/>
            </a:endParaRPr>
          </a:p>
          <a:p>
            <a:pPr indent="-342900" lvl="0" marL="342900" marR="0" rtl="0" algn="l">
              <a:spcBef>
                <a:spcPts val="0"/>
              </a:spcBef>
              <a:spcAft>
                <a:spcPts val="0"/>
              </a:spcAft>
              <a:buClr>
                <a:srgbClr val="3D4560"/>
              </a:buClr>
              <a:buSzPts val="950"/>
              <a:buFont typeface="Calibri"/>
              <a:buChar char="•"/>
            </a:pPr>
            <a:r>
              <a:rPr lang="en-US" sz="950">
                <a:solidFill>
                  <a:srgbClr val="3D4560"/>
                </a:solidFill>
                <a:latin typeface="Calibri"/>
                <a:ea typeface="Calibri"/>
                <a:cs typeface="Calibri"/>
                <a:sym typeface="Calibri"/>
              </a:rPr>
              <a:t>Bradford, A. (2020). The Brussels Effect: How the EU Rules the World. Oxford Univ. Press.</a:t>
            </a:r>
            <a:endParaRPr sz="950">
              <a:solidFill>
                <a:schemeClr val="dk1"/>
              </a:solidFill>
              <a:latin typeface="Calibri"/>
              <a:ea typeface="Calibri"/>
              <a:cs typeface="Calibri"/>
              <a:sym typeface="Calibri"/>
            </a:endParaRPr>
          </a:p>
          <a:p>
            <a:pPr indent="-342900" lvl="0" marL="342900" marR="0" rtl="0" algn="l">
              <a:spcBef>
                <a:spcPts val="0"/>
              </a:spcBef>
              <a:spcAft>
                <a:spcPts val="0"/>
              </a:spcAft>
              <a:buClr>
                <a:srgbClr val="3D4560"/>
              </a:buClr>
              <a:buSzPts val="950"/>
              <a:buFont typeface="Calibri"/>
              <a:buChar char="•"/>
            </a:pPr>
            <a:r>
              <a:rPr lang="en-US" sz="950">
                <a:solidFill>
                  <a:srgbClr val="3D4560"/>
                </a:solidFill>
                <a:latin typeface="Calibri"/>
                <a:ea typeface="Calibri"/>
                <a:cs typeface="Calibri"/>
                <a:sym typeface="Calibri"/>
              </a:rPr>
              <a:t>Corrêa, N. K. et al. (2023). Worldwide AI ethics: A review of 200 guidelines. Patterns, 4(10).</a:t>
            </a:r>
            <a:endParaRPr sz="950">
              <a:solidFill>
                <a:schemeClr val="dk1"/>
              </a:solidFill>
              <a:latin typeface="Calibri"/>
              <a:ea typeface="Calibri"/>
              <a:cs typeface="Calibri"/>
              <a:sym typeface="Calibri"/>
            </a:endParaRPr>
          </a:p>
          <a:p>
            <a:pPr indent="-342900" lvl="0" marL="342900" marR="0" rtl="0" algn="l">
              <a:spcBef>
                <a:spcPts val="0"/>
              </a:spcBef>
              <a:spcAft>
                <a:spcPts val="0"/>
              </a:spcAft>
              <a:buClr>
                <a:srgbClr val="3D4560"/>
              </a:buClr>
              <a:buSzPts val="950"/>
              <a:buFont typeface="Calibri"/>
              <a:buChar char="•"/>
            </a:pPr>
            <a:r>
              <a:rPr lang="en-US" sz="950">
                <a:solidFill>
                  <a:srgbClr val="3D4560"/>
                </a:solidFill>
                <a:latin typeface="Calibri"/>
                <a:ea typeface="Calibri"/>
                <a:cs typeface="Calibri"/>
                <a:sym typeface="Calibri"/>
              </a:rPr>
              <a:t>Dwivedi, Y. K. et al. (2023). So what if ChatGPT wrote it? Intl. J. Info. Management, 71.</a:t>
            </a:r>
            <a:endParaRPr sz="950">
              <a:solidFill>
                <a:schemeClr val="dk1"/>
              </a:solidFill>
              <a:latin typeface="Calibri"/>
              <a:ea typeface="Calibri"/>
              <a:cs typeface="Calibri"/>
              <a:sym typeface="Calibri"/>
            </a:endParaRPr>
          </a:p>
          <a:p>
            <a:pPr indent="-342900" lvl="0" marL="342900" marR="0" rtl="0" algn="l">
              <a:spcBef>
                <a:spcPts val="0"/>
              </a:spcBef>
              <a:spcAft>
                <a:spcPts val="0"/>
              </a:spcAft>
              <a:buClr>
                <a:srgbClr val="3D4560"/>
              </a:buClr>
              <a:buSzPts val="950"/>
              <a:buFont typeface="Calibri"/>
              <a:buChar char="•"/>
            </a:pPr>
            <a:r>
              <a:rPr lang="en-US" sz="950">
                <a:solidFill>
                  <a:srgbClr val="3D4560"/>
                </a:solidFill>
                <a:latin typeface="Calibri"/>
                <a:ea typeface="Calibri"/>
                <a:cs typeface="Calibri"/>
                <a:sym typeface="Calibri"/>
              </a:rPr>
              <a:t>Egger, R., &amp; Yu, J. (2022). Topic modeling comparison: LDA, NMF, Top2Vec, BERTopic. Frontiers in Sociology.</a:t>
            </a:r>
            <a:endParaRPr sz="950">
              <a:solidFill>
                <a:schemeClr val="dk1"/>
              </a:solidFill>
              <a:latin typeface="Calibri"/>
              <a:ea typeface="Calibri"/>
              <a:cs typeface="Calibri"/>
              <a:sym typeface="Calibri"/>
            </a:endParaRPr>
          </a:p>
          <a:p>
            <a:pPr indent="-342900" lvl="0" marL="342900" marR="0" rtl="0" algn="l">
              <a:spcBef>
                <a:spcPts val="0"/>
              </a:spcBef>
              <a:spcAft>
                <a:spcPts val="0"/>
              </a:spcAft>
              <a:buClr>
                <a:srgbClr val="3D4560"/>
              </a:buClr>
              <a:buSzPts val="950"/>
              <a:buFont typeface="Calibri"/>
              <a:buChar char="•"/>
            </a:pPr>
            <a:r>
              <a:rPr lang="en-US" sz="950">
                <a:solidFill>
                  <a:srgbClr val="3D4560"/>
                </a:solidFill>
                <a:latin typeface="Calibri"/>
                <a:ea typeface="Calibri"/>
                <a:cs typeface="Calibri"/>
                <a:sym typeface="Calibri"/>
              </a:rPr>
              <a:t>European Parliament. (2024). Regulation (EU) 2024/1689(EU AI Act).</a:t>
            </a:r>
            <a:endParaRPr sz="950">
              <a:solidFill>
                <a:schemeClr val="dk1"/>
              </a:solidFill>
              <a:latin typeface="Calibri"/>
              <a:ea typeface="Calibri"/>
              <a:cs typeface="Calibri"/>
              <a:sym typeface="Calibri"/>
            </a:endParaRPr>
          </a:p>
          <a:p>
            <a:pPr indent="-342900" lvl="0" marL="342900" marR="0" rtl="0" algn="l">
              <a:spcBef>
                <a:spcPts val="0"/>
              </a:spcBef>
              <a:spcAft>
                <a:spcPts val="0"/>
              </a:spcAft>
              <a:buClr>
                <a:srgbClr val="3D4560"/>
              </a:buClr>
              <a:buSzPts val="950"/>
              <a:buFont typeface="Calibri"/>
              <a:buChar char="•"/>
            </a:pPr>
            <a:r>
              <a:rPr lang="en-US" sz="950">
                <a:solidFill>
                  <a:srgbClr val="3D4560"/>
                </a:solidFill>
                <a:latin typeface="Calibri"/>
                <a:ea typeface="Calibri"/>
                <a:cs typeface="Calibri"/>
                <a:sym typeface="Calibri"/>
              </a:rPr>
              <a:t>Grootendorst, M. (2022). BERTopic: Neural topic modeling with class-based TF-IDF. arXiv:2203.05794.</a:t>
            </a:r>
            <a:endParaRPr sz="950">
              <a:solidFill>
                <a:schemeClr val="dk1"/>
              </a:solidFill>
              <a:latin typeface="Calibri"/>
              <a:ea typeface="Calibri"/>
              <a:cs typeface="Calibri"/>
              <a:sym typeface="Calibri"/>
            </a:endParaRPr>
          </a:p>
        </p:txBody>
      </p:sp>
      <p:sp>
        <p:nvSpPr>
          <p:cNvPr id="339" name="Google Shape;339;p13"/>
          <p:cNvSpPr/>
          <p:nvPr/>
        </p:nvSpPr>
        <p:spPr>
          <a:xfrm>
            <a:off x="4663440" y="914400"/>
            <a:ext cx="4206240" cy="3794760"/>
          </a:xfrm>
          <a:prstGeom prst="rect">
            <a:avLst/>
          </a:prstGeom>
          <a:solidFill>
            <a:srgbClr val="FFFFFF"/>
          </a:solidFill>
          <a:ln cap="flat" cmpd="sng" w="9525">
            <a:solidFill>
              <a:srgbClr val="D0D5E0"/>
            </a:solidFill>
            <a:prstDash val="solid"/>
            <a:round/>
            <a:headEnd len="sm" w="sm" type="none"/>
            <a:tailEnd len="sm" w="sm" type="none"/>
          </a:ln>
          <a:effectLst>
            <a:outerShdw blurRad="762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0" name="Google Shape;340;p13"/>
          <p:cNvSpPr/>
          <p:nvPr/>
        </p:nvSpPr>
        <p:spPr>
          <a:xfrm>
            <a:off x="4846320" y="1005840"/>
            <a:ext cx="3840480" cy="36576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3D4560"/>
              </a:buClr>
              <a:buSzPts val="950"/>
              <a:buFont typeface="Calibri"/>
              <a:buChar char="•"/>
            </a:pPr>
            <a:r>
              <a:rPr lang="en-US" sz="950">
                <a:solidFill>
                  <a:srgbClr val="3D4560"/>
                </a:solidFill>
                <a:latin typeface="Calibri"/>
                <a:ea typeface="Calibri"/>
                <a:cs typeface="Calibri"/>
                <a:sym typeface="Calibri"/>
              </a:rPr>
              <a:t>Jobin, A., Ienca, M., &amp; Vayena, E. (2019). The global landscape of AI ethics guidelines. Nature MI, 1, 389–399.</a:t>
            </a:r>
            <a:endParaRPr sz="950">
              <a:solidFill>
                <a:schemeClr val="dk1"/>
              </a:solidFill>
              <a:latin typeface="Calibri"/>
              <a:ea typeface="Calibri"/>
              <a:cs typeface="Calibri"/>
              <a:sym typeface="Calibri"/>
            </a:endParaRPr>
          </a:p>
          <a:p>
            <a:pPr indent="-342900" lvl="0" marL="342900" marR="0" rtl="0" algn="l">
              <a:spcBef>
                <a:spcPts val="0"/>
              </a:spcBef>
              <a:spcAft>
                <a:spcPts val="0"/>
              </a:spcAft>
              <a:buClr>
                <a:srgbClr val="3D4560"/>
              </a:buClr>
              <a:buSzPts val="950"/>
              <a:buFont typeface="Calibri"/>
              <a:buChar char="•"/>
            </a:pPr>
            <a:r>
              <a:rPr lang="en-US" sz="950">
                <a:solidFill>
                  <a:srgbClr val="3D4560"/>
                </a:solidFill>
                <a:latin typeface="Calibri"/>
                <a:ea typeface="Calibri"/>
                <a:cs typeface="Calibri"/>
                <a:sym typeface="Calibri"/>
              </a:rPr>
              <a:t>Klinger, J. et al. (2021). Deep learning, deep change? Mapping geography of AI. Scientometrics, 126.</a:t>
            </a:r>
            <a:endParaRPr sz="950">
              <a:solidFill>
                <a:schemeClr val="dk1"/>
              </a:solidFill>
              <a:latin typeface="Calibri"/>
              <a:ea typeface="Calibri"/>
              <a:cs typeface="Calibri"/>
              <a:sym typeface="Calibri"/>
            </a:endParaRPr>
          </a:p>
          <a:p>
            <a:pPr indent="-342900" lvl="0" marL="342900" marR="0" rtl="0" algn="l">
              <a:spcBef>
                <a:spcPts val="0"/>
              </a:spcBef>
              <a:spcAft>
                <a:spcPts val="0"/>
              </a:spcAft>
              <a:buClr>
                <a:srgbClr val="3D4560"/>
              </a:buClr>
              <a:buSzPts val="950"/>
              <a:buFont typeface="Calibri"/>
              <a:buChar char="•"/>
            </a:pPr>
            <a:r>
              <a:rPr lang="en-US" sz="950">
                <a:solidFill>
                  <a:srgbClr val="3D4560"/>
                </a:solidFill>
                <a:latin typeface="Calibri"/>
                <a:ea typeface="Calibri"/>
                <a:cs typeface="Calibri"/>
                <a:sym typeface="Calibri"/>
              </a:rPr>
              <a:t>Mittelstadt, B. (2019). Principles alone cannot guarantee ethical AI. Nature MI, 1(11), 501–507.</a:t>
            </a:r>
            <a:endParaRPr sz="950">
              <a:solidFill>
                <a:schemeClr val="dk1"/>
              </a:solidFill>
              <a:latin typeface="Calibri"/>
              <a:ea typeface="Calibri"/>
              <a:cs typeface="Calibri"/>
              <a:sym typeface="Calibri"/>
            </a:endParaRPr>
          </a:p>
          <a:p>
            <a:pPr indent="-342900" lvl="0" marL="342900" marR="0" rtl="0" algn="l">
              <a:spcBef>
                <a:spcPts val="0"/>
              </a:spcBef>
              <a:spcAft>
                <a:spcPts val="0"/>
              </a:spcAft>
              <a:buClr>
                <a:srgbClr val="3D4560"/>
              </a:buClr>
              <a:buSzPts val="950"/>
              <a:buFont typeface="Calibri"/>
              <a:buChar char="•"/>
            </a:pPr>
            <a:r>
              <a:rPr lang="en-US" sz="950">
                <a:solidFill>
                  <a:srgbClr val="3D4560"/>
                </a:solidFill>
                <a:latin typeface="Calibri"/>
                <a:ea typeface="Calibri"/>
                <a:cs typeface="Calibri"/>
                <a:sym typeface="Calibri"/>
              </a:rPr>
              <a:t>Noble, S. U. (2018). Algorithms of Oppression. New York University Press.</a:t>
            </a:r>
            <a:endParaRPr sz="950">
              <a:solidFill>
                <a:schemeClr val="dk1"/>
              </a:solidFill>
              <a:latin typeface="Calibri"/>
              <a:ea typeface="Calibri"/>
              <a:cs typeface="Calibri"/>
              <a:sym typeface="Calibri"/>
            </a:endParaRPr>
          </a:p>
          <a:p>
            <a:pPr indent="-342900" lvl="0" marL="342900" marR="0" rtl="0" algn="l">
              <a:spcBef>
                <a:spcPts val="0"/>
              </a:spcBef>
              <a:spcAft>
                <a:spcPts val="0"/>
              </a:spcAft>
              <a:buClr>
                <a:srgbClr val="3D4560"/>
              </a:buClr>
              <a:buSzPts val="950"/>
              <a:buFont typeface="Calibri"/>
              <a:buChar char="•"/>
            </a:pPr>
            <a:r>
              <a:rPr lang="en-US" sz="950">
                <a:solidFill>
                  <a:srgbClr val="3D4560"/>
                </a:solidFill>
                <a:latin typeface="Calibri"/>
                <a:ea typeface="Calibri"/>
                <a:cs typeface="Calibri"/>
                <a:sym typeface="Calibri"/>
              </a:rPr>
              <a:t>OECD. (2019). Recommendation of the Council on Artificial Intelligence.</a:t>
            </a:r>
            <a:endParaRPr sz="950">
              <a:solidFill>
                <a:schemeClr val="dk1"/>
              </a:solidFill>
              <a:latin typeface="Calibri"/>
              <a:ea typeface="Calibri"/>
              <a:cs typeface="Calibri"/>
              <a:sym typeface="Calibri"/>
            </a:endParaRPr>
          </a:p>
          <a:p>
            <a:pPr indent="-342900" lvl="0" marL="342900" marR="0" rtl="0" algn="l">
              <a:spcBef>
                <a:spcPts val="0"/>
              </a:spcBef>
              <a:spcAft>
                <a:spcPts val="0"/>
              </a:spcAft>
              <a:buClr>
                <a:srgbClr val="3D4560"/>
              </a:buClr>
              <a:buSzPts val="950"/>
              <a:buFont typeface="Calibri"/>
              <a:buChar char="•"/>
            </a:pPr>
            <a:r>
              <a:rPr lang="en-US" sz="950">
                <a:solidFill>
                  <a:srgbClr val="3D4560"/>
                </a:solidFill>
                <a:latin typeface="Calibri"/>
                <a:ea typeface="Calibri"/>
                <a:cs typeface="Calibri"/>
                <a:sym typeface="Calibri"/>
              </a:rPr>
              <a:t>UNESCO. (2021). Recommendation on the Ethics of Artificial Intelligence.</a:t>
            </a:r>
            <a:endParaRPr sz="950">
              <a:solidFill>
                <a:schemeClr val="dk1"/>
              </a:solidFill>
              <a:latin typeface="Calibri"/>
              <a:ea typeface="Calibri"/>
              <a:cs typeface="Calibri"/>
              <a:sym typeface="Calibri"/>
            </a:endParaRPr>
          </a:p>
          <a:p>
            <a:pPr indent="-342900" lvl="0" marL="342900" marR="0" rtl="0" algn="l">
              <a:spcBef>
                <a:spcPts val="0"/>
              </a:spcBef>
              <a:spcAft>
                <a:spcPts val="0"/>
              </a:spcAft>
              <a:buClr>
                <a:srgbClr val="3D4560"/>
              </a:buClr>
              <a:buSzPts val="950"/>
              <a:buFont typeface="Calibri"/>
              <a:buChar char="•"/>
            </a:pPr>
            <a:r>
              <a:rPr lang="en-US" sz="950">
                <a:solidFill>
                  <a:srgbClr val="3D4560"/>
                </a:solidFill>
                <a:latin typeface="Calibri"/>
                <a:ea typeface="Calibri"/>
                <a:cs typeface="Calibri"/>
                <a:sym typeface="Calibri"/>
              </a:rPr>
              <a:t>Yin, W., Hay, J., &amp; Roth, D. (2019). Benchmarking zero-shot text classification. EMNLP-IJCNLP.</a:t>
            </a:r>
            <a:endParaRPr sz="950">
              <a:solidFill>
                <a:schemeClr val="dk1"/>
              </a:solidFill>
              <a:latin typeface="Calibri"/>
              <a:ea typeface="Calibri"/>
              <a:cs typeface="Calibri"/>
              <a:sym typeface="Calibri"/>
            </a:endParaRPr>
          </a:p>
        </p:txBody>
      </p:sp>
      <p:sp>
        <p:nvSpPr>
          <p:cNvPr id="341" name="Google Shape;341;p13"/>
          <p:cNvSpPr/>
          <p:nvPr/>
        </p:nvSpPr>
        <p:spPr>
          <a:xfrm>
            <a:off x="0" y="5001768"/>
            <a:ext cx="9144000" cy="141732"/>
          </a:xfrm>
          <a:prstGeom prst="rect">
            <a:avLst/>
          </a:prstGeom>
          <a:solidFill>
            <a:srgbClr val="C8A9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2" name="Google Shape;342;p13"/>
          <p:cNvSpPr/>
          <p:nvPr/>
        </p:nvSpPr>
        <p:spPr>
          <a:xfrm>
            <a:off x="274320" y="5001768"/>
            <a:ext cx="8595360" cy="1417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F5E"/>
              </a:buClr>
              <a:buSzPts val="900"/>
              <a:buFont typeface="Calibri"/>
              <a:buNone/>
            </a:pPr>
            <a:r>
              <a:rPr b="1" lang="en-US" sz="900">
                <a:solidFill>
                  <a:srgbClr val="1B2F5E"/>
                </a:solidFill>
                <a:latin typeface="Calibri"/>
                <a:ea typeface="Calibri"/>
                <a:cs typeface="Calibri"/>
                <a:sym typeface="Calibri"/>
              </a:rPr>
              <a:t>Questions?  |  Tambudzai G. Charumbira  |  Joshua Gray  |  GWU CCAS Spring 2026</a:t>
            </a:r>
            <a:endParaRPr sz="9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2026-04-26T15:59:57Z</dcterms:created>
  <dc:creator>Tambudzai G. Charumbira, Joshua Gray</dc:creator>
</cp:coreProperties>
</file>